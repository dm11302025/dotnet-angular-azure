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  <p:sldId id="269" r:id="rId3"/>
    <p:sldId id="258" r:id="rId4"/>
    <p:sldId id="257" r:id="rId5"/>
    <p:sldId id="264" r:id="rId6"/>
    <p:sldId id="263" r:id="rId7"/>
    <p:sldId id="259" r:id="rId8"/>
    <p:sldId id="265" r:id="rId9"/>
    <p:sldId id="271" r:id="rId10"/>
    <p:sldId id="270" r:id="rId11"/>
    <p:sldId id="261" r:id="rId12"/>
    <p:sldId id="277" r:id="rId13"/>
    <p:sldId id="266" r:id="rId14"/>
    <p:sldId id="267" r:id="rId15"/>
    <p:sldId id="272" r:id="rId16"/>
    <p:sldId id="273" r:id="rId17"/>
    <p:sldId id="274" r:id="rId18"/>
    <p:sldId id="275" r:id="rId19"/>
    <p:sldId id="276" r:id="rId2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9" d="100"/>
          <a:sy n="59" d="100"/>
        </p:scale>
        <p:origin x="1428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white">
          <a:xfrm>
            <a:off x="0" y="5971032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-9144" y="6053328"/>
            <a:ext cx="2249424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2359152" y="6044184"/>
            <a:ext cx="6784848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2362200" y="4038600"/>
            <a:ext cx="6477000" cy="1828800"/>
          </a:xfrm>
        </p:spPr>
        <p:txBody>
          <a:bodyPr anchor="b"/>
          <a:lstStyle>
            <a:lvl1pPr>
              <a:defRPr cap="all" baseline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362200" y="6050037"/>
            <a:ext cx="6705600" cy="685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600">
                <a:solidFill>
                  <a:srgbClr val="FFFFFF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76200" y="6068699"/>
            <a:ext cx="2057400" cy="685800"/>
          </a:xfrm>
        </p:spPr>
        <p:txBody>
          <a:bodyPr>
            <a:noAutofit/>
          </a:bodyPr>
          <a:lstStyle>
            <a:lvl1pPr algn="ctr">
              <a:defRPr sz="2000">
                <a:solidFill>
                  <a:srgbClr val="FFFFFF"/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10/5/2025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085393" y="236538"/>
            <a:ext cx="5867400" cy="365125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8001000" y="228600"/>
            <a:ext cx="8382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4958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743200"/>
            <a:ext cx="7123113" cy="1673225"/>
          </a:xfrm>
        </p:spPr>
        <p:txBody>
          <a:bodyPr anchor="t"/>
          <a:lstStyle>
            <a:lvl1pPr marL="0" indent="0">
              <a:buNone/>
              <a:defRPr sz="280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7" name="Rectangle 6"/>
          <p:cNvSpPr/>
          <p:nvPr/>
        </p:nvSpPr>
        <p:spPr bwMode="white">
          <a:xfrm>
            <a:off x="0" y="1524000"/>
            <a:ext cx="9144000" cy="114300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0" y="1600200"/>
            <a:ext cx="1295400" cy="990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1371600" y="1600200"/>
            <a:ext cx="7772400" cy="990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1600200"/>
            <a:ext cx="7620000" cy="990600"/>
          </a:xfrm>
        </p:spPr>
        <p:txBody>
          <a:bodyPr/>
          <a:lstStyle>
            <a:lvl1pPr algn="l">
              <a:buNone/>
              <a:defRPr sz="4400" b="0" cap="none">
                <a:solidFill>
                  <a:srgbClr val="FFFFFF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10/5/2025</a:t>
            </a:fld>
            <a:endParaRPr lang="en-US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1752600"/>
            <a:ext cx="1295400" cy="701676"/>
          </a:xfrm>
        </p:spPr>
        <p:txBody>
          <a:bodyPr>
            <a:no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609600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844901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1D8BD707-D9CF-40AE-B4C6-C98DA3205C09}" type="datetimeFigureOut">
              <a:rPr lang="en-US" smtClean="0"/>
              <a:pPr/>
              <a:t>10/5/2025</a:t>
            </a:fld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73050"/>
            <a:ext cx="8153400" cy="86995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609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800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1D8BD707-D9CF-40AE-B4C6-C98DA3205C09}" type="datetimeFigureOut">
              <a:rPr lang="en-US" smtClean="0"/>
              <a:pPr/>
              <a:t>10/5/2025</a:t>
            </a:fld>
            <a:endParaRPr lang="en-US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en-US"/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"/>
          </p:nvPr>
        </p:nvSpPr>
        <p:spPr>
          <a:xfrm>
            <a:off x="609600" y="1752600"/>
            <a:ext cx="3886200" cy="640080"/>
          </a:xfrm>
          <a:solidFill>
            <a:schemeClr val="accent2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3"/>
          </p:nvPr>
        </p:nvSpPr>
        <p:spPr>
          <a:xfrm>
            <a:off x="4800600" y="1752600"/>
            <a:ext cx="3886200" cy="640080"/>
          </a:xfrm>
          <a:solidFill>
            <a:schemeClr val="accent4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0" y="6248400"/>
            <a:ext cx="5334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8077200" cy="869950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09600" y="1752600"/>
            <a:ext cx="1600200" cy="4343400"/>
          </a:xfrm>
          <a:ln w="50800" cap="sq" cmpd="dbl" algn="ctr">
            <a:solidFill>
              <a:schemeClr val="accent2"/>
            </a:solidFill>
            <a:prstDash val="solid"/>
            <a:miter lim="800000"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137160" tIns="182880" rIns="137160" bIns="91440"/>
          <a:lstStyle>
            <a:lvl1pPr marL="0" indent="0">
              <a:spcAft>
                <a:spcPts val="1000"/>
              </a:spcAft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2362200" y="1752600"/>
            <a:ext cx="6400800" cy="44196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00200" y="5486400"/>
            <a:ext cx="7315200" cy="685800"/>
          </a:xfrm>
        </p:spPr>
        <p:txBody>
          <a:bodyPr/>
          <a:lstStyle>
            <a:lvl1pPr marL="0" indent="0">
              <a:buFontTx/>
              <a:buNone/>
              <a:defRPr sz="17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8" name="Rectangle 7"/>
          <p:cNvSpPr/>
          <p:nvPr/>
        </p:nvSpPr>
        <p:spPr bwMode="white">
          <a:xfrm>
            <a:off x="-9144" y="4572000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-9144" y="4663440"/>
            <a:ext cx="1463040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1545336" y="4654296"/>
            <a:ext cx="7598664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4648200"/>
            <a:ext cx="7315200" cy="685800"/>
          </a:xfrm>
        </p:spPr>
        <p:txBody>
          <a:bodyPr anchor="ctr"/>
          <a:lstStyle>
            <a:lvl1pPr algn="l">
              <a:buNone/>
              <a:defRPr sz="2800" b="0">
                <a:solidFill>
                  <a:srgbClr val="FFFFFF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11" name="Rectangle 10"/>
          <p:cNvSpPr/>
          <p:nvPr/>
        </p:nvSpPr>
        <p:spPr bwMode="white">
          <a:xfrm>
            <a:off x="1447800" y="0"/>
            <a:ext cx="100584" cy="6867144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>
          <a:xfrm>
            <a:off x="6248400" y="6248400"/>
            <a:ext cx="2667000" cy="365125"/>
          </a:xfrm>
        </p:spPr>
        <p:txBody>
          <a:bodyPr rtlCol="0"/>
          <a:lstStyle/>
          <a:p>
            <a:fld id="{1D8BD707-D9CF-40AE-B4C6-C98DA3205C09}" type="datetimeFigureOut">
              <a:rPr lang="en-US" smtClean="0"/>
              <a:pPr/>
              <a:t>10/5/2025</a:t>
            </a:fld>
            <a:endParaRPr lang="en-US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4667249"/>
            <a:ext cx="1447800" cy="663578"/>
          </a:xfrm>
        </p:spPr>
        <p:txBody>
          <a:bodyPr rtlCol="0"/>
          <a:lstStyle>
            <a:lvl1pPr>
              <a:defRPr sz="2800"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>
          <a:xfrm>
            <a:off x="1600200" y="6248206"/>
            <a:ext cx="4572000" cy="365125"/>
          </a:xfrm>
        </p:spPr>
        <p:txBody>
          <a:bodyPr rtlCol="0"/>
          <a:lstStyle/>
          <a:p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560576" y="0"/>
            <a:ext cx="7583424" cy="4568952"/>
          </a:xfrm>
          <a:solidFill>
            <a:schemeClr val="accent1">
              <a:tint val="40000"/>
            </a:schemeClr>
          </a:solidFill>
          <a:ln>
            <a:noFill/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53200" y="609600"/>
            <a:ext cx="2057400" cy="5516563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5562600" cy="5516564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553200" y="6248402"/>
            <a:ext cx="2209800" cy="365125"/>
          </a:xfrm>
        </p:spPr>
        <p:txBody>
          <a:bodyPr/>
          <a:lstStyle/>
          <a:p>
            <a:fld id="{1D8BD707-D9CF-40AE-B4C6-C98DA3205C09}" type="datetimeFigureOut">
              <a:rPr lang="en-US" smtClean="0"/>
              <a:pPr/>
              <a:t>10/5/2025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7201" y="6248207"/>
            <a:ext cx="5573483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 bwMode="white">
          <a:xfrm>
            <a:off x="6096318" y="0"/>
            <a:ext cx="32004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6142038" y="609600"/>
            <a:ext cx="228600" cy="62484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6142038" y="0"/>
            <a:ext cx="228600" cy="533400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5400000">
            <a:off x="5989638" y="144462"/>
            <a:ext cx="533400" cy="244476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609600" y="228600"/>
            <a:ext cx="8153400" cy="9906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612648" y="1600200"/>
            <a:ext cx="8153400" cy="452628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609600" y="6248206"/>
            <a:ext cx="5421083" cy="365125"/>
          </a:xfrm>
          <a:prstGeom prst="rect">
            <a:avLst/>
          </a:prstGeom>
        </p:spPr>
        <p:txBody>
          <a:bodyPr vert="horz" anchor="ctr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Rectangle 6"/>
          <p:cNvSpPr/>
          <p:nvPr/>
        </p:nvSpPr>
        <p:spPr bwMode="white">
          <a:xfrm>
            <a:off x="0" y="1234440"/>
            <a:ext cx="9144000" cy="32004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0" y="1280160"/>
            <a:ext cx="533400" cy="228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590550" y="1280160"/>
            <a:ext cx="8553450" cy="228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0" y="1272222"/>
            <a:ext cx="533400" cy="244476"/>
          </a:xfrm>
          <a:prstGeom prst="rect">
            <a:avLst/>
          </a:prstGeom>
        </p:spPr>
        <p:txBody>
          <a:bodyPr vert="horz" anchor="ctr" anchorCtr="0">
            <a:normAutofit/>
          </a:bodyPr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rtl="0" eaLnBrk="1" latinLnBrk="0" hangingPunct="1">
        <a:spcBef>
          <a:spcPct val="0"/>
        </a:spcBef>
        <a:buNone/>
        <a:defRPr kumimoji="0"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20040" indent="-320040" algn="l" rtl="0" eaLnBrk="1" latinLnBrk="0" hangingPunct="1">
        <a:spcBef>
          <a:spcPts val="700"/>
        </a:spcBef>
        <a:buClr>
          <a:schemeClr val="accent2"/>
        </a:buClr>
        <a:buSzPct val="60000"/>
        <a:buFont typeface="Wingdings"/>
        <a:buChar char=""/>
        <a:defRPr kumimoji="0"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ts val="550"/>
        </a:spcBef>
        <a:buClr>
          <a:schemeClr val="accent1"/>
        </a:buClr>
        <a:buSzPct val="70000"/>
        <a:buFont typeface="Wingdings 2"/>
        <a:buChar char="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rtl="0" eaLnBrk="1" latinLnBrk="0" hangingPunct="1">
        <a:spcBef>
          <a:spcPts val="500"/>
        </a:spcBef>
        <a:buClr>
          <a:schemeClr val="accent2"/>
        </a:buClr>
        <a:buSzPct val="75000"/>
        <a:buFont typeface="Wingdings"/>
        <a:buChar char="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28600" algn="l" rtl="0" eaLnBrk="1" latinLnBrk="0" hangingPunct="1">
        <a:spcBef>
          <a:spcPts val="400"/>
        </a:spcBef>
        <a:buClr>
          <a:schemeClr val="accent3"/>
        </a:buClr>
        <a:buSzPct val="7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-228600" algn="l" rtl="0" eaLnBrk="1" latinLnBrk="0" hangingPunct="1">
        <a:spcBef>
          <a:spcPts val="400"/>
        </a:spcBef>
        <a:buClr>
          <a:schemeClr val="accent4"/>
        </a:buClr>
        <a:buSzPct val="6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103120" indent="-228600" algn="l" rtl="0" eaLnBrk="1" latinLnBrk="0" hangingPunct="1">
        <a:spcBef>
          <a:spcPct val="20000"/>
        </a:spcBef>
        <a:buClr>
          <a:schemeClr val="accent1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rtl="0" eaLnBrk="1" latinLnBrk="0" hangingPunct="1">
        <a:spcBef>
          <a:spcPct val="20000"/>
        </a:spcBef>
        <a:buClr>
          <a:schemeClr val="accent2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651760" indent="-228600" algn="l" rtl="0" eaLnBrk="1" latinLnBrk="0" hangingPunct="1">
        <a:spcBef>
          <a:spcPct val="20000"/>
        </a:spcBef>
        <a:buClr>
          <a:schemeClr val="accent3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28600" algn="l" rtl="0" eaLnBrk="1" latinLnBrk="0" hangingPunct="1">
        <a:spcBef>
          <a:spcPct val="20000"/>
        </a:spcBef>
        <a:buClr>
          <a:schemeClr val="accent4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304800" y="228600"/>
            <a:ext cx="8229600" cy="1143000"/>
          </a:xfrm>
        </p:spPr>
        <p:txBody>
          <a:bodyPr/>
          <a:lstStyle/>
          <a:p>
            <a:r>
              <a:rPr lang="en-US" dirty="0"/>
              <a:t>Delegates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1"/>
          </p:nvPr>
        </p:nvSpPr>
        <p:spPr>
          <a:xfrm>
            <a:off x="457200" y="1752600"/>
            <a:ext cx="8229600" cy="4389120"/>
          </a:xfrm>
        </p:spPr>
        <p:txBody>
          <a:bodyPr>
            <a:normAutofit/>
          </a:bodyPr>
          <a:lstStyle/>
          <a:p>
            <a:r>
              <a:rPr lang="en-US" sz="2000" dirty="0"/>
              <a:t>A </a:t>
            </a:r>
            <a:r>
              <a:rPr lang="en-US" sz="2000" b="1" dirty="0"/>
              <a:t>delegate</a:t>
            </a:r>
            <a:r>
              <a:rPr lang="en-US" sz="2000" dirty="0"/>
              <a:t> in C# is a </a:t>
            </a:r>
            <a:r>
              <a:rPr lang="en-US" sz="2000" b="1" dirty="0"/>
              <a:t>type-safe function pointer</a:t>
            </a:r>
            <a:r>
              <a:rPr lang="en-US" sz="2000" dirty="0"/>
              <a:t> </a:t>
            </a:r>
          </a:p>
          <a:p>
            <a:r>
              <a:rPr lang="en-US" sz="2000" dirty="0"/>
              <a:t>it’s an object that can </a:t>
            </a:r>
            <a:r>
              <a:rPr lang="en-US" sz="2000" b="1" dirty="0"/>
              <a:t>hold a reference to a method</a:t>
            </a:r>
            <a:r>
              <a:rPr lang="en-US" sz="2000" dirty="0"/>
              <a:t> (or multiple methods) with a specific </a:t>
            </a:r>
            <a:r>
              <a:rPr lang="en-US" sz="2000" b="1" dirty="0"/>
              <a:t>signature</a:t>
            </a:r>
            <a:r>
              <a:rPr lang="en-US" sz="2000" dirty="0"/>
              <a:t> (same return type and parameters).</a:t>
            </a:r>
          </a:p>
          <a:p>
            <a:r>
              <a:rPr lang="en-US" sz="2000" b="1" dirty="0"/>
              <a:t>Real-world Analogy</a:t>
            </a:r>
          </a:p>
          <a:p>
            <a:r>
              <a:rPr lang="en-US" sz="2000" dirty="0"/>
              <a:t>Imagine you have a </a:t>
            </a:r>
            <a:r>
              <a:rPr lang="en-US" sz="2000" b="1" dirty="0"/>
              <a:t>TV remote</a:t>
            </a:r>
            <a:r>
              <a:rPr lang="en-US" sz="2000" dirty="0"/>
              <a:t> 🎮</a:t>
            </a:r>
          </a:p>
          <a:p>
            <a:r>
              <a:rPr lang="en-US" sz="2000" dirty="0"/>
              <a:t>The remote (delegate) doesn’t care which TV (method) it controls.</a:t>
            </a:r>
          </a:p>
          <a:p>
            <a:r>
              <a:rPr lang="en-US" sz="2000" dirty="0"/>
              <a:t>As long as the TV supports the same signal (method signature), the remote can operate it.</a:t>
            </a:r>
          </a:p>
          <a:p>
            <a:r>
              <a:rPr lang="en-US" sz="2000" dirty="0"/>
              <a:t>So, if you replace the TV (method), the remote still works — because it just knows </a:t>
            </a:r>
            <a:r>
              <a:rPr lang="en-US" sz="2000" i="1" dirty="0"/>
              <a:t>how</a:t>
            </a:r>
            <a:r>
              <a:rPr lang="en-US" sz="2000" dirty="0"/>
              <a:t> to send commands, not </a:t>
            </a:r>
            <a:r>
              <a:rPr lang="en-US" sz="2000" i="1" dirty="0"/>
              <a:t>what happens</a:t>
            </a:r>
            <a:r>
              <a:rPr lang="en-US" sz="2000" dirty="0"/>
              <a:t> inside the TV.</a:t>
            </a:r>
          </a:p>
          <a:p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0158B6-14C5-4594-4023-8355394AB7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1808183-7013-D745-BA11-8ABD0B197A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228600"/>
            <a:ext cx="8229600" cy="1143000"/>
          </a:xfrm>
        </p:spPr>
        <p:txBody>
          <a:bodyPr/>
          <a:lstStyle/>
          <a:p>
            <a:r>
              <a:rPr lang="en-US" dirty="0"/>
              <a:t>Delegates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4E0327F-76D3-BEBC-40CA-19CDC5B1D8CC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1752600"/>
            <a:ext cx="8229600" cy="4389120"/>
          </a:xfrm>
        </p:spPr>
        <p:txBody>
          <a:bodyPr>
            <a:normAutofit/>
          </a:bodyPr>
          <a:lstStyle/>
          <a:p>
            <a:r>
              <a:rPr lang="en-US" sz="2000" dirty="0"/>
              <a:t>Why Do We Use Delegates in C#</a:t>
            </a:r>
          </a:p>
          <a:p>
            <a:r>
              <a:rPr lang="en-US" sz="2000" dirty="0"/>
              <a:t>Delegates exist mainly to make your code </a:t>
            </a:r>
            <a:r>
              <a:rPr lang="en-US" sz="2000" b="1" dirty="0"/>
              <a:t>flexible</a:t>
            </a:r>
            <a:r>
              <a:rPr lang="en-US" sz="2000" dirty="0"/>
              <a:t>, </a:t>
            </a:r>
            <a:r>
              <a:rPr lang="en-US" sz="2000" b="1" dirty="0"/>
              <a:t>extensible</a:t>
            </a:r>
            <a:r>
              <a:rPr lang="en-US" sz="2000" dirty="0"/>
              <a:t>, and </a:t>
            </a:r>
            <a:r>
              <a:rPr lang="en-US" sz="2000" b="1" dirty="0"/>
              <a:t>loosely coupled</a:t>
            </a:r>
            <a:r>
              <a:rPr lang="en-US" sz="2000" dirty="0"/>
              <a:t>.</a:t>
            </a:r>
          </a:p>
          <a:p>
            <a:r>
              <a:rPr lang="en-US" sz="2000" dirty="0"/>
              <a:t>They allow you to </a:t>
            </a:r>
            <a:r>
              <a:rPr lang="en-US" sz="2000" b="1" dirty="0"/>
              <a:t>pass methods as parameters</a:t>
            </a:r>
            <a:r>
              <a:rPr lang="en-US" sz="2000" dirty="0"/>
              <a:t>, </a:t>
            </a:r>
            <a:r>
              <a:rPr lang="en-US" sz="2000" b="1" dirty="0"/>
              <a:t>change behavior at runtime</a:t>
            </a:r>
            <a:r>
              <a:rPr lang="en-US" sz="2000" dirty="0"/>
              <a:t>, and </a:t>
            </a:r>
            <a:r>
              <a:rPr lang="en-US" sz="2000" b="1" dirty="0"/>
              <a:t>build event-driven programs</a:t>
            </a:r>
            <a:r>
              <a:rPr lang="en-US" sz="2000" dirty="0"/>
              <a:t>.</a:t>
            </a:r>
          </a:p>
          <a:p>
            <a:r>
              <a:rPr lang="en-US" sz="2000" dirty="0"/>
              <a:t>Passing behavior around: You can pass methods as arguments to other methods—like callbacks or event handlers.</a:t>
            </a:r>
          </a:p>
          <a:p>
            <a:r>
              <a:rPr lang="en-US" sz="2000" dirty="0"/>
              <a:t>Type safety: The method you reference must match the delegate's signature (easy to debug!).</a:t>
            </a:r>
          </a:p>
          <a:p>
            <a:r>
              <a:rPr lang="en-US" sz="2000" dirty="0"/>
              <a:t>Flexibility: Delegates enable code that chooses "what to do" later, not up front. This is super helpful in event-driven programming (like UI code), LINQ, and asynchronous code.</a:t>
            </a:r>
          </a:p>
        </p:txBody>
      </p:sp>
    </p:spTree>
    <p:extLst>
      <p:ext uri="{BB962C8B-B14F-4D97-AF65-F5344CB8AC3E}">
        <p14:creationId xmlns:p14="http://schemas.microsoft.com/office/powerpoint/2010/main" val="41476156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0" y="0"/>
            <a:ext cx="8229600" cy="1143000"/>
          </a:xfrm>
        </p:spPr>
        <p:txBody>
          <a:bodyPr/>
          <a:lstStyle/>
          <a:p>
            <a:r>
              <a:rPr lang="en-US" dirty="0"/>
              <a:t>Delegates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1"/>
          </p:nvPr>
        </p:nvSpPr>
        <p:spPr>
          <a:xfrm>
            <a:off x="533400" y="1752600"/>
            <a:ext cx="8153400" cy="4800600"/>
          </a:xfrm>
        </p:spPr>
        <p:txBody>
          <a:bodyPr>
            <a:normAutofit fontScale="77500" lnSpcReduction="20000"/>
          </a:bodyPr>
          <a:lstStyle/>
          <a:p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To implement delegate in our application we need to declare delegates, instantiate delegates and call delegates.</a:t>
            </a:r>
          </a:p>
          <a:p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We can declare delegates by using </a:t>
            </a:r>
            <a:r>
              <a:rPr lang="en-US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delegate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keyword.</a:t>
            </a:r>
          </a:p>
          <a:p>
            <a:pPr lvl="1"/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Declaration:</a:t>
            </a:r>
          </a:p>
          <a:p>
            <a:pPr lvl="1">
              <a:buNone/>
            </a:pPr>
            <a:r>
              <a:rPr lang="en-US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access-modifier  delegate  return-type delegate-name(parameter-list);</a:t>
            </a:r>
          </a:p>
          <a:p>
            <a:pPr lvl="1">
              <a:buNone/>
            </a:pPr>
            <a:r>
              <a:rPr lang="en-US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Ex: delegate void Mydelegate(string s);</a:t>
            </a:r>
          </a:p>
          <a:p>
            <a:pPr lvl="1"/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Instantiation </a:t>
            </a:r>
          </a:p>
          <a:p>
            <a:pPr lvl="1">
              <a:buNone/>
            </a:pPr>
            <a:r>
              <a:rPr lang="en-US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delegate-name  object-name=new delegate-name(method-name)</a:t>
            </a:r>
          </a:p>
          <a:p>
            <a:pPr lvl="1">
              <a:buNone/>
            </a:pPr>
            <a:r>
              <a:rPr lang="en-US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Or</a:t>
            </a:r>
          </a:p>
          <a:p>
            <a:pPr lvl="1">
              <a:buNone/>
            </a:pPr>
            <a:r>
              <a:rPr lang="en-US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delegate-name  object-name=method-name</a:t>
            </a:r>
          </a:p>
          <a:p>
            <a:pPr lvl="1"/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Invocation </a:t>
            </a:r>
          </a:p>
          <a:p>
            <a:pPr lvl="1">
              <a:buNone/>
            </a:pPr>
            <a:r>
              <a:rPr lang="en-US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object-name();</a:t>
            </a:r>
          </a:p>
          <a:p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Note: The delegate  can refer to the methods, which have the same signature and return type of the delegate 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Delegates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Delegates are two types.</a:t>
            </a:r>
          </a:p>
          <a:p>
            <a:pPr lvl="1"/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Single- cast Delegate</a:t>
            </a:r>
          </a:p>
          <a:p>
            <a:pPr lvl="1"/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Multi cast Delegate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Delegates[Contd.]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953000"/>
          </a:xfrm>
        </p:spPr>
        <p:txBody>
          <a:bodyPr/>
          <a:lstStyle/>
          <a:p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Single cast Delegate:</a:t>
            </a:r>
          </a:p>
          <a:p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Single-cast delegate refer to one method at a time.</a:t>
            </a:r>
          </a:p>
          <a:p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 single-cast delegate derived from  </a:t>
            </a:r>
            <a:r>
              <a:rPr lang="en-US" dirty="0"/>
              <a:t>System.Delegate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class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pic>
        <p:nvPicPr>
          <p:cNvPr id="19458" name="Picture 2" descr="C:\Users\santuparsi\Desktop\Capture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92263" y="3581400"/>
            <a:ext cx="5037137" cy="2744788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Multicast Delegate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 Multicast delegate can invoke multiple methods at same time.</a:t>
            </a:r>
          </a:p>
          <a:p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 Multicast delegate refers from  the </a:t>
            </a:r>
            <a:r>
              <a:rPr lang="en-US" dirty="0"/>
              <a:t>System.MulticastDelegate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Class</a:t>
            </a:r>
          </a:p>
          <a:p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When a multicast delegate is called ,it executes all the methods it wraps in the calling order.</a:t>
            </a:r>
          </a:p>
          <a:p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The methods called by the multicast delegate should not have a return value.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Multicast Delegate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add a method to the delegate object , you simply make use of the overloaded += operator.</a:t>
            </a:r>
          </a:p>
          <a:p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remove a method from the delegate object you make use of the overloaded operator -= </a:t>
            </a:r>
          </a:p>
          <a:p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multicast delegates calls a sequence of methods in the specified order.</a:t>
            </a:r>
          </a:p>
          <a:p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If one of the methods in the sequence throws an exception, the iteration stops there!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 idx="4294967295"/>
          </p:nvPr>
        </p:nvSpPr>
        <p:spPr>
          <a:xfrm>
            <a:off x="990600" y="228600"/>
            <a:ext cx="8153400" cy="990600"/>
          </a:xfrm>
        </p:spPr>
        <p:txBody>
          <a:bodyPr/>
          <a:lstStyle/>
          <a:p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Multicast Delegate</a:t>
            </a:r>
          </a:p>
        </p:txBody>
      </p:sp>
      <p:pic>
        <p:nvPicPr>
          <p:cNvPr id="20482" name="Picture 2" descr="C:\Users\santuparsi\Desktop\Capture1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85800" y="1295400"/>
            <a:ext cx="7696200" cy="51054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599237-C05C-E2DB-2F96-9A16376091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B37457F-5544-75AB-CDB0-D1A7150384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Delegate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41945C8-3A91-A412-684C-60ECE5884D83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Summary — Why We Use Delegates</a:t>
            </a:r>
          </a:p>
          <a:p>
            <a:endParaRPr lang="en-US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A8B63EBD-D0F8-D160-71F0-75FD87794B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8758129"/>
              </p:ext>
            </p:extLst>
          </p:nvPr>
        </p:nvGraphicFramePr>
        <p:xfrm>
          <a:off x="377952" y="2209800"/>
          <a:ext cx="8355438" cy="3733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85146">
                  <a:extLst>
                    <a:ext uri="{9D8B030D-6E8A-4147-A177-3AD203B41FA5}">
                      <a16:colId xmlns:a16="http://schemas.microsoft.com/office/drawing/2014/main" val="1856738525"/>
                    </a:ext>
                  </a:extLst>
                </a:gridCol>
                <a:gridCol w="2785146">
                  <a:extLst>
                    <a:ext uri="{9D8B030D-6E8A-4147-A177-3AD203B41FA5}">
                      <a16:colId xmlns:a16="http://schemas.microsoft.com/office/drawing/2014/main" val="295119138"/>
                    </a:ext>
                  </a:extLst>
                </a:gridCol>
                <a:gridCol w="2785146">
                  <a:extLst>
                    <a:ext uri="{9D8B030D-6E8A-4147-A177-3AD203B41FA5}">
                      <a16:colId xmlns:a16="http://schemas.microsoft.com/office/drawing/2014/main" val="2713252542"/>
                    </a:ext>
                  </a:extLst>
                </a:gridCol>
              </a:tblGrid>
              <a:tr h="4193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Reason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Description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Example Use Case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78227156"/>
                  </a:ext>
                </a:extLst>
              </a:tr>
              <a:tr h="7237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Pass methods as arguments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Behavior changes dynamically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ourier New" panose="02070309020205020404" pitchFamily="49" charset="0"/>
                        </a:rPr>
                        <a:t>Execute(calc.Add)</a:t>
                      </a:r>
                      <a:endParaRPr 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46733261"/>
                  </a:ext>
                </a:extLst>
              </a:tr>
              <a:tr h="7237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Loose coupling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Separate method caller and callee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Notification system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4518468"/>
                  </a:ext>
                </a:extLst>
              </a:tr>
              <a:tr h="7237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Callback methods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Notify when a task completes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Download completion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69690236"/>
                  </a:ext>
                </a:extLst>
              </a:tr>
              <a:tr h="4193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Event handling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Foundation for C# events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Button click, API events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8062384"/>
                  </a:ext>
                </a:extLst>
              </a:tr>
              <a:tr h="7237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Flexible business logic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Plug-ins, strategies, runtime switching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Discount, logging, validation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898679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804565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5D437F-D099-B3D9-78B6-5364255CF5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95969DE-AF56-1759-2DFD-21D99811BA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Events</a:t>
            </a:r>
            <a:endParaRPr lang="en-US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0C690C4-6EE3-24E0-F99A-AB3BB65A51A2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sz="2800" dirty="0"/>
              <a:t>An </a:t>
            </a:r>
            <a:r>
              <a:rPr lang="en-US" sz="2800" b="1" dirty="0"/>
              <a:t>event</a:t>
            </a:r>
            <a:r>
              <a:rPr lang="en-US" sz="2800" dirty="0"/>
              <a:t> in C# is a </a:t>
            </a:r>
            <a:r>
              <a:rPr lang="en-US" sz="2800" b="1" dirty="0"/>
              <a:t>notification mechanism</a:t>
            </a:r>
            <a:r>
              <a:rPr lang="en-US" sz="2800" dirty="0"/>
              <a:t> — it lets one class </a:t>
            </a:r>
            <a:r>
              <a:rPr lang="en-US" sz="2800" b="1" dirty="0"/>
              <a:t>notify</a:t>
            </a:r>
            <a:r>
              <a:rPr lang="en-US" sz="2800" dirty="0"/>
              <a:t> another class when </a:t>
            </a:r>
            <a:r>
              <a:rPr lang="en-US" sz="2800" b="1" dirty="0"/>
              <a:t>something happens</a:t>
            </a:r>
            <a:r>
              <a:rPr lang="en-US" sz="2800" dirty="0"/>
              <a:t>.</a:t>
            </a:r>
          </a:p>
          <a:p>
            <a:r>
              <a:rPr lang="en-US" sz="2800" dirty="0"/>
              <a:t>Example:</a:t>
            </a:r>
          </a:p>
          <a:p>
            <a:r>
              <a:rPr lang="en-US" sz="2800" dirty="0"/>
              <a:t>A </a:t>
            </a:r>
            <a:r>
              <a:rPr lang="en-US" sz="2800" b="1" dirty="0"/>
              <a:t>Button</a:t>
            </a:r>
            <a:r>
              <a:rPr lang="en-US" sz="2800" dirty="0"/>
              <a:t> clicks → triggers a </a:t>
            </a:r>
            <a:r>
              <a:rPr lang="en-US" sz="2800" b="1" dirty="0"/>
              <a:t>Click event</a:t>
            </a:r>
            <a:r>
              <a:rPr lang="en-US" sz="2800" dirty="0"/>
              <a:t>.</a:t>
            </a:r>
          </a:p>
          <a:p>
            <a:r>
              <a:rPr lang="en-US" sz="2800" dirty="0"/>
              <a:t>A </a:t>
            </a:r>
            <a:r>
              <a:rPr lang="en-US" sz="2800" b="1" dirty="0" err="1"/>
              <a:t>FileDownloader</a:t>
            </a:r>
            <a:r>
              <a:rPr lang="en-US" sz="2800" dirty="0"/>
              <a:t> finishes → triggers a </a:t>
            </a:r>
            <a:r>
              <a:rPr lang="en-US" sz="2800" b="1" dirty="0" err="1"/>
              <a:t>DownloadCompleted</a:t>
            </a:r>
            <a:r>
              <a:rPr lang="en-US" sz="2800" b="1" dirty="0"/>
              <a:t> event</a:t>
            </a:r>
            <a:r>
              <a:rPr lang="en-US" sz="2800" dirty="0"/>
              <a:t>.</a:t>
            </a:r>
          </a:p>
          <a:p>
            <a:r>
              <a:rPr lang="en-US" sz="2800" dirty="0"/>
              <a:t>A </a:t>
            </a:r>
            <a:r>
              <a:rPr lang="en-US" sz="2800" b="1" dirty="0"/>
              <a:t>Bank Account</a:t>
            </a:r>
            <a:r>
              <a:rPr lang="en-US" sz="2800" dirty="0"/>
              <a:t> exceeds limit → triggers an </a:t>
            </a:r>
            <a:r>
              <a:rPr lang="en-US" sz="2800" b="1" dirty="0" err="1"/>
              <a:t>InsufficientBalance</a:t>
            </a:r>
            <a:r>
              <a:rPr lang="en-US" sz="2800" b="1" dirty="0"/>
              <a:t> event</a:t>
            </a:r>
            <a:r>
              <a:rPr lang="en-US" sz="2800" dirty="0"/>
              <a:t>.</a:t>
            </a:r>
          </a:p>
          <a:p>
            <a:r>
              <a:rPr lang="en-US" sz="2800" dirty="0"/>
              <a:t>So, an event says:</a:t>
            </a:r>
          </a:p>
          <a:p>
            <a:r>
              <a:rPr lang="en-US" sz="2800" dirty="0"/>
              <a:t>“Hey, something just happened — whoever is interested, please react!”</a:t>
            </a:r>
          </a:p>
          <a:p>
            <a:r>
              <a:rPr lang="en-US" sz="2800" b="1" dirty="0"/>
              <a:t>Relationship Between Delegate and Event</a:t>
            </a:r>
          </a:p>
          <a:p>
            <a:r>
              <a:rPr lang="en-US" sz="2800" dirty="0"/>
              <a:t>A </a:t>
            </a:r>
            <a:r>
              <a:rPr lang="en-US" sz="2800" b="1" dirty="0"/>
              <a:t>delegate</a:t>
            </a:r>
            <a:r>
              <a:rPr lang="en-US" sz="2800" dirty="0"/>
              <a:t> defines </a:t>
            </a:r>
            <a:r>
              <a:rPr lang="en-US" sz="2800" i="1" dirty="0"/>
              <a:t>what kind of method</a:t>
            </a:r>
            <a:r>
              <a:rPr lang="en-US" sz="2800" dirty="0"/>
              <a:t> can handle the event.</a:t>
            </a:r>
          </a:p>
          <a:p>
            <a:r>
              <a:rPr lang="en-US" sz="2800" dirty="0"/>
              <a:t>An </a:t>
            </a:r>
            <a:r>
              <a:rPr lang="en-US" sz="2800" b="1" dirty="0"/>
              <a:t>event</a:t>
            </a:r>
            <a:r>
              <a:rPr lang="en-US" sz="2800" dirty="0"/>
              <a:t> uses that delegate to notify subscribers.</a:t>
            </a:r>
          </a:p>
          <a:p>
            <a:r>
              <a:rPr lang="en-US" sz="2800" dirty="0"/>
              <a:t>👉 Think of a </a:t>
            </a:r>
            <a:r>
              <a:rPr lang="en-US" sz="2800" b="1" dirty="0"/>
              <a:t>delegate as the wiring</a:t>
            </a:r>
            <a:r>
              <a:rPr lang="en-US" sz="2800" dirty="0"/>
              <a:t> and an </a:t>
            </a:r>
            <a:r>
              <a:rPr lang="en-US" sz="2800" b="1" dirty="0"/>
              <a:t>event as the switch</a:t>
            </a:r>
            <a:r>
              <a:rPr lang="en-US" sz="2800" dirty="0"/>
              <a:t>.</a:t>
            </a:r>
          </a:p>
          <a:p>
            <a:endParaRPr lang="en-US" sz="2800" dirty="0"/>
          </a:p>
          <a:p>
            <a:endParaRPr lang="en-US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491361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Anonymous function/method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An </a:t>
            </a:r>
            <a:r>
              <a:rPr lang="en-US" sz="2000" b="1" dirty="0"/>
              <a:t>anonymous function</a:t>
            </a:r>
            <a:r>
              <a:rPr lang="en-US" sz="2000" dirty="0"/>
              <a:t> is a </a:t>
            </a:r>
            <a:r>
              <a:rPr lang="en-US" sz="2000" b="1" dirty="0"/>
              <a:t>function without a name</a:t>
            </a:r>
            <a:r>
              <a:rPr lang="en-US" sz="2000" dirty="0"/>
              <a:t>.</a:t>
            </a:r>
          </a:p>
          <a:p>
            <a:r>
              <a:rPr lang="en-US" sz="2000" dirty="0"/>
              <a:t>Instead of declaring a separate named method, you can </a:t>
            </a:r>
            <a:r>
              <a:rPr lang="en-US" sz="2000" b="1" dirty="0"/>
              <a:t>define the function inline</a:t>
            </a:r>
            <a:r>
              <a:rPr lang="en-US" sz="2000" dirty="0"/>
              <a:t> (on the spot) — usually when you’re assigning it to a </a:t>
            </a:r>
            <a:r>
              <a:rPr lang="en-US" sz="2000" b="1" dirty="0"/>
              <a:t>delegate</a:t>
            </a:r>
            <a:r>
              <a:rPr lang="en-US" sz="2000" dirty="0"/>
              <a:t> or </a:t>
            </a:r>
            <a:r>
              <a:rPr lang="en-US" sz="2000" b="1" dirty="0"/>
              <a:t>passing it as a parameter</a:t>
            </a:r>
            <a:r>
              <a:rPr lang="en-US" sz="2000" dirty="0"/>
              <a:t>.</a:t>
            </a:r>
          </a:p>
          <a:p>
            <a:r>
              <a:rPr lang="en-US" sz="2000" dirty="0"/>
              <a:t>Think of it like a “temporary helper method” — used once, not reused.</a:t>
            </a:r>
          </a:p>
          <a:p>
            <a:r>
              <a:rPr lang="en-US" sz="2000" b="1" dirty="0"/>
              <a:t>Why Use Anonymous Functions?</a:t>
            </a:r>
          </a:p>
          <a:p>
            <a:endParaRPr lang="en-US" sz="2000" dirty="0"/>
          </a:p>
          <a:p>
            <a:endParaRPr lang="en-US" dirty="0"/>
          </a:p>
          <a:p>
            <a:pPr lvl="1">
              <a:buNone/>
            </a:pPr>
            <a:endParaRPr lang="en-US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008953A6-AE32-55DD-6AB3-D8CCA470B1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11047881"/>
              </p:ext>
            </p:extLst>
          </p:nvPr>
        </p:nvGraphicFramePr>
        <p:xfrm>
          <a:off x="1143000" y="3789680"/>
          <a:ext cx="7388352" cy="1752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90800">
                  <a:extLst>
                    <a:ext uri="{9D8B030D-6E8A-4147-A177-3AD203B41FA5}">
                      <a16:colId xmlns:a16="http://schemas.microsoft.com/office/drawing/2014/main" val="1859613025"/>
                    </a:ext>
                  </a:extLst>
                </a:gridCol>
                <a:gridCol w="4797552">
                  <a:extLst>
                    <a:ext uri="{9D8B030D-6E8A-4147-A177-3AD203B41FA5}">
                      <a16:colId xmlns:a16="http://schemas.microsoft.com/office/drawing/2014/main" val="116212748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Benefit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Explanation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259479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Less code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No need to declare separate methods for small tasks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827928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Better readability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Keeps logic close to where it’s used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697567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Inline flexibility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Great for short callbacks, filtering, or events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5930171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E2FAAE-F772-FC2D-3611-B9656B1F60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C5793F5-742C-6802-FD30-51010FC6D7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Anonymous function/method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6BDA7C7-D6AA-1401-85E2-70A114566FDC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Ways to Create Anonymous Functions</a:t>
            </a:r>
          </a:p>
          <a:p>
            <a:r>
              <a:rPr lang="en-US" sz="2000" dirty="0"/>
              <a:t>C# supports two main ways:</a:t>
            </a:r>
          </a:p>
          <a:p>
            <a:r>
              <a:rPr lang="en-US" sz="2000" b="1" dirty="0"/>
              <a:t>Anonymous method</a:t>
            </a:r>
            <a:r>
              <a:rPr lang="en-US" sz="2000" dirty="0"/>
              <a:t> → Introduced in C# 2.0</a:t>
            </a:r>
          </a:p>
          <a:p>
            <a:r>
              <a:rPr lang="en-US" sz="2000" b="1" dirty="0"/>
              <a:t>Lambda expression</a:t>
            </a:r>
            <a:r>
              <a:rPr lang="en-US" sz="2000" dirty="0"/>
              <a:t> → Introduced in C# 3.0 (modern and preferred)</a:t>
            </a:r>
          </a:p>
          <a:p>
            <a:endParaRPr lang="en-US" sz="2000" dirty="0"/>
          </a:p>
          <a:p>
            <a:endParaRPr lang="en-US" dirty="0"/>
          </a:p>
          <a:p>
            <a:pPr lvl="1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92012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Lambda expression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sz="2400" dirty="0"/>
              <a:t>Lambda expressions are a </a:t>
            </a:r>
            <a:r>
              <a:rPr lang="en-US" sz="2400" b="1" dirty="0"/>
              <a:t>shorter, cleaner</a:t>
            </a:r>
            <a:r>
              <a:rPr lang="en-US" sz="2400" dirty="0"/>
              <a:t> way to write anonymous functions.</a:t>
            </a:r>
          </a:p>
          <a:p>
            <a:r>
              <a:rPr lang="en-US" sz="2400" b="1" dirty="0">
                <a:solidFill>
                  <a:srgbClr val="5F5F5F"/>
                </a:solidFill>
                <a:latin typeface="Courier New" pitchFamily="49" charset="0"/>
                <a:cs typeface="Courier New" pitchFamily="49" charset="0"/>
              </a:rPr>
              <a:t>using System;</a:t>
            </a:r>
          </a:p>
          <a:p>
            <a:r>
              <a:rPr lang="en-US" sz="2400" b="1" dirty="0">
                <a:solidFill>
                  <a:srgbClr val="5F5F5F"/>
                </a:solidFill>
                <a:latin typeface="Courier New" pitchFamily="49" charset="0"/>
                <a:cs typeface="Courier New" pitchFamily="49" charset="0"/>
              </a:rPr>
              <a:t>class X</a:t>
            </a:r>
          </a:p>
          <a:p>
            <a:r>
              <a:rPr lang="en-US" sz="2400" b="1" dirty="0">
                <a:solidFill>
                  <a:srgbClr val="5F5F5F"/>
                </a:solidFill>
                <a:latin typeface="Courier New" pitchFamily="49" charset="0"/>
                <a:cs typeface="Courier New" pitchFamily="49" charset="0"/>
              </a:rPr>
              <a:t>{</a:t>
            </a:r>
          </a:p>
          <a:p>
            <a:r>
              <a:rPr lang="en-US" sz="2400" b="1" dirty="0">
                <a:solidFill>
                  <a:srgbClr val="5F5F5F"/>
                </a:solidFill>
                <a:latin typeface="Courier New" pitchFamily="49" charset="0"/>
                <a:cs typeface="Courier New" pitchFamily="49" charset="0"/>
              </a:rPr>
              <a:t>    delegate int cube(int </a:t>
            </a:r>
            <a:r>
              <a:rPr lang="en-US" sz="2400" b="1" dirty="0" err="1">
                <a:solidFill>
                  <a:srgbClr val="5F5F5F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2400" b="1" dirty="0">
                <a:solidFill>
                  <a:srgbClr val="5F5F5F"/>
                </a:solidFill>
                <a:latin typeface="Courier New" pitchFamily="49" charset="0"/>
                <a:cs typeface="Courier New" pitchFamily="49" charset="0"/>
              </a:rPr>
              <a:t>);</a:t>
            </a:r>
          </a:p>
          <a:p>
            <a:r>
              <a:rPr lang="en-US" sz="2400" b="1" dirty="0">
                <a:solidFill>
                  <a:srgbClr val="5F5F5F"/>
                </a:solidFill>
                <a:latin typeface="Courier New" pitchFamily="49" charset="0"/>
                <a:cs typeface="Courier New" pitchFamily="49" charset="0"/>
              </a:rPr>
              <a:t>    static void Main(string[] </a:t>
            </a:r>
            <a:r>
              <a:rPr lang="en-US" sz="2400" b="1" dirty="0" err="1">
                <a:solidFill>
                  <a:srgbClr val="5F5F5F"/>
                </a:solidFill>
                <a:latin typeface="Courier New" pitchFamily="49" charset="0"/>
                <a:cs typeface="Courier New" pitchFamily="49" charset="0"/>
              </a:rPr>
              <a:t>args</a:t>
            </a:r>
            <a:r>
              <a:rPr lang="en-US" sz="2400" b="1" dirty="0">
                <a:solidFill>
                  <a:srgbClr val="5F5F5F"/>
                </a:solidFill>
                <a:latin typeface="Courier New" pitchFamily="49" charset="0"/>
                <a:cs typeface="Courier New" pitchFamily="49" charset="0"/>
              </a:rPr>
              <a:t>)</a:t>
            </a:r>
          </a:p>
          <a:p>
            <a:r>
              <a:rPr lang="en-US" sz="2400" b="1" dirty="0">
                <a:solidFill>
                  <a:srgbClr val="5F5F5F"/>
                </a:solidFill>
                <a:latin typeface="Courier New" pitchFamily="49" charset="0"/>
                <a:cs typeface="Courier New" pitchFamily="49" charset="0"/>
              </a:rPr>
              <a:t>    {</a:t>
            </a:r>
          </a:p>
          <a:p>
            <a:r>
              <a:rPr lang="nb-NO" sz="2400" b="1" dirty="0">
                <a:solidFill>
                  <a:srgbClr val="5F5F5F"/>
                </a:solidFill>
                <a:latin typeface="Courier New" pitchFamily="49" charset="0"/>
                <a:cs typeface="Courier New" pitchFamily="49" charset="0"/>
              </a:rPr>
              <a:t>        cube myDelegate = </a:t>
            </a:r>
            <a:r>
              <a:rPr lang="nb-NO" sz="2400" b="1" dirty="0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rPr>
              <a:t>x =&gt; x*x*x;</a:t>
            </a:r>
          </a:p>
          <a:p>
            <a:r>
              <a:rPr lang="en-US" sz="2400" b="1" dirty="0">
                <a:solidFill>
                  <a:srgbClr val="5F5F5F"/>
                </a:solidFill>
                <a:latin typeface="Courier New" pitchFamily="49" charset="0"/>
                <a:cs typeface="Courier New" pitchFamily="49" charset="0"/>
              </a:rPr>
              <a:t>        int j = </a:t>
            </a:r>
            <a:r>
              <a:rPr lang="en-US" sz="2400" b="1" dirty="0" err="1">
                <a:solidFill>
                  <a:srgbClr val="5F5F5F"/>
                </a:solidFill>
                <a:latin typeface="Courier New" pitchFamily="49" charset="0"/>
                <a:cs typeface="Courier New" pitchFamily="49" charset="0"/>
              </a:rPr>
              <a:t>myDelegate</a:t>
            </a:r>
            <a:r>
              <a:rPr lang="en-US" sz="2400" b="1" dirty="0">
                <a:solidFill>
                  <a:srgbClr val="5F5F5F"/>
                </a:solidFill>
                <a:latin typeface="Courier New" pitchFamily="49" charset="0"/>
                <a:cs typeface="Courier New" pitchFamily="49" charset="0"/>
              </a:rPr>
              <a:t>(5);</a:t>
            </a:r>
          </a:p>
          <a:p>
            <a:r>
              <a:rPr lang="en-US" sz="2400" b="1" dirty="0">
                <a:solidFill>
                  <a:srgbClr val="5F5F5F"/>
                </a:solidFill>
                <a:latin typeface="Courier New" pitchFamily="49" charset="0"/>
                <a:cs typeface="Courier New" pitchFamily="49" charset="0"/>
              </a:rPr>
              <a:t>        </a:t>
            </a:r>
            <a:r>
              <a:rPr lang="en-US" sz="2400" b="1" dirty="0" err="1">
                <a:solidFill>
                  <a:srgbClr val="5F5F5F"/>
                </a:solidFill>
                <a:latin typeface="Courier New" pitchFamily="49" charset="0"/>
                <a:cs typeface="Courier New" pitchFamily="49" charset="0"/>
              </a:rPr>
              <a:t>Console.Write</a:t>
            </a:r>
            <a:r>
              <a:rPr lang="en-US" sz="2400" b="1" dirty="0">
                <a:solidFill>
                  <a:srgbClr val="5F5F5F"/>
                </a:solidFill>
                <a:latin typeface="Courier New" pitchFamily="49" charset="0"/>
                <a:cs typeface="Courier New" pitchFamily="49" charset="0"/>
              </a:rPr>
              <a:t>(j);</a:t>
            </a:r>
          </a:p>
          <a:p>
            <a:r>
              <a:rPr lang="en-US" sz="2400" b="1" dirty="0">
                <a:solidFill>
                  <a:srgbClr val="5F5F5F"/>
                </a:solidFill>
                <a:latin typeface="Courier New" pitchFamily="49" charset="0"/>
                <a:cs typeface="Courier New" pitchFamily="49" charset="0"/>
              </a:rPr>
              <a:t>    }</a:t>
            </a:r>
          </a:p>
          <a:p>
            <a:r>
              <a:rPr lang="en-US" sz="2400" b="1" dirty="0">
                <a:solidFill>
                  <a:srgbClr val="5F5F5F"/>
                </a:solidFill>
                <a:latin typeface="Courier New" pitchFamily="49" charset="0"/>
                <a:cs typeface="Courier New" pitchFamily="49" charset="0"/>
              </a:rPr>
              <a:t>}</a:t>
            </a:r>
          </a:p>
          <a:p>
            <a:endParaRPr lang="en-US" sz="2400" b="1" dirty="0">
              <a:solidFill>
                <a:srgbClr val="5F5F5F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en-US" sz="2400" b="1" dirty="0">
                <a:solidFill>
                  <a:srgbClr val="5F5F5F"/>
                </a:solidFill>
                <a:latin typeface="Courier New" pitchFamily="49" charset="0"/>
                <a:cs typeface="Courier New" pitchFamily="49" charset="0"/>
              </a:rPr>
              <a:t>//Prints 125</a:t>
            </a:r>
            <a:endParaRPr lang="en-US" sz="2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endParaRPr lang="en-US" sz="2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Lambda expression Vs Anonymous Method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E824ABE2-EE77-AC56-3B85-AA6A4FF9D890}"/>
              </a:ext>
            </a:extLst>
          </p:cNvPr>
          <p:cNvGraphicFramePr>
            <a:graphicFrameLocks noGrp="1"/>
          </p:cNvGraphicFramePr>
          <p:nvPr>
            <p:ph sz="quarter" idx="1"/>
            <p:extLst>
              <p:ext uri="{D42A27DB-BD31-4B8C-83A1-F6EECF244321}">
                <p14:modId xmlns:p14="http://schemas.microsoft.com/office/powerpoint/2010/main" val="478090904"/>
              </p:ext>
            </p:extLst>
          </p:nvPr>
        </p:nvGraphicFramePr>
        <p:xfrm>
          <a:off x="381000" y="1600200"/>
          <a:ext cx="8385172" cy="2839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96293">
                  <a:extLst>
                    <a:ext uri="{9D8B030D-6E8A-4147-A177-3AD203B41FA5}">
                      <a16:colId xmlns:a16="http://schemas.microsoft.com/office/drawing/2014/main" val="2770623044"/>
                    </a:ext>
                  </a:extLst>
                </a:gridCol>
                <a:gridCol w="2096293">
                  <a:extLst>
                    <a:ext uri="{9D8B030D-6E8A-4147-A177-3AD203B41FA5}">
                      <a16:colId xmlns:a16="http://schemas.microsoft.com/office/drawing/2014/main" val="3085389248"/>
                    </a:ext>
                  </a:extLst>
                </a:gridCol>
                <a:gridCol w="2096293">
                  <a:extLst>
                    <a:ext uri="{9D8B030D-6E8A-4147-A177-3AD203B41FA5}">
                      <a16:colId xmlns:a16="http://schemas.microsoft.com/office/drawing/2014/main" val="287275467"/>
                    </a:ext>
                  </a:extLst>
                </a:gridCol>
                <a:gridCol w="2096293">
                  <a:extLst>
                    <a:ext uri="{9D8B030D-6E8A-4147-A177-3AD203B41FA5}">
                      <a16:colId xmlns:a16="http://schemas.microsoft.com/office/drawing/2014/main" val="45357637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Type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Syntax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Return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Example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095714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Anonymous Method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ourier New" panose="02070309020205020404" pitchFamily="49" charset="0"/>
                        </a:rPr>
                        <a:t>delegate(parameters) { ... }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Any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>
                          <a:latin typeface="Courier New" panose="02070309020205020404" pitchFamily="49" charset="0"/>
                        </a:rPr>
                        <a:t>delegate(int x) { Console.WriteLine(x); }</a:t>
                      </a:r>
                      <a:endParaRPr lang="it-IT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86716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Lambda Expression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ourier New" panose="02070309020205020404" pitchFamily="49" charset="0"/>
                        </a:rPr>
                        <a:t>(parameters) =&gt; expression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Any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ourier New" panose="02070309020205020404" pitchFamily="49" charset="0"/>
                        </a:rPr>
                        <a:t>(x, y) =&gt; x + y</a:t>
                      </a:r>
                      <a:endParaRPr 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93324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Use With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Delegates, Events, LINQ, Callbacks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—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2038068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8BE725-FDE2-3BF7-1F2E-39358BD70B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D83F72E-A3C4-D271-F05A-ECE880EE54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Built-in Delegates</a:t>
            </a:r>
            <a:endParaRPr lang="en-US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D82255D-034F-EFEB-2408-15B1D22B0EC7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C# provides predefined delegate types, so you don’t always have to declare your own.</a:t>
            </a:r>
          </a:p>
          <a:p>
            <a:endParaRPr lang="en-US" sz="2800" dirty="0"/>
          </a:p>
          <a:p>
            <a:endParaRPr lang="en-US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F3B3392E-8672-FF6E-801E-553A0DBD5C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1876859"/>
              </p:ext>
            </p:extLst>
          </p:nvPr>
        </p:nvGraphicFramePr>
        <p:xfrm>
          <a:off x="762000" y="2819400"/>
          <a:ext cx="7769352" cy="28955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89784">
                  <a:extLst>
                    <a:ext uri="{9D8B030D-6E8A-4147-A177-3AD203B41FA5}">
                      <a16:colId xmlns:a16="http://schemas.microsoft.com/office/drawing/2014/main" val="2402438657"/>
                    </a:ext>
                  </a:extLst>
                </a:gridCol>
                <a:gridCol w="2589784">
                  <a:extLst>
                    <a:ext uri="{9D8B030D-6E8A-4147-A177-3AD203B41FA5}">
                      <a16:colId xmlns:a16="http://schemas.microsoft.com/office/drawing/2014/main" val="2499019052"/>
                    </a:ext>
                  </a:extLst>
                </a:gridCol>
                <a:gridCol w="2589784">
                  <a:extLst>
                    <a:ext uri="{9D8B030D-6E8A-4147-A177-3AD203B41FA5}">
                      <a16:colId xmlns:a16="http://schemas.microsoft.com/office/drawing/2014/main" val="1341726644"/>
                    </a:ext>
                  </a:extLst>
                </a:gridCol>
              </a:tblGrid>
              <a:tr h="4686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Type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Description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Example Signature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24722872"/>
                  </a:ext>
                </a:extLst>
              </a:tr>
              <a:tr h="8089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Action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No return value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ourier New" panose="02070309020205020404" pitchFamily="49" charset="0"/>
                        </a:rPr>
                        <a:t>Action&lt;int, string&gt;</a:t>
                      </a:r>
                      <a:endParaRPr 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86471969"/>
                  </a:ext>
                </a:extLst>
              </a:tr>
              <a:tr h="8089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Func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Returns a value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ourier New" panose="02070309020205020404" pitchFamily="49" charset="0"/>
                        </a:rPr>
                        <a:t>Func&lt;int, int, string&gt;</a:t>
                      </a:r>
                      <a:endParaRPr 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8037947"/>
                  </a:ext>
                </a:extLst>
              </a:tr>
              <a:tr h="8089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Predicate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Returns </a:t>
                      </a:r>
                      <a:r>
                        <a:rPr lang="en-US">
                          <a:latin typeface="Courier New" panose="02070309020205020404" pitchFamily="49" charset="0"/>
                        </a:rPr>
                        <a:t>bool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Courier New" panose="02070309020205020404" pitchFamily="49" charset="0"/>
                        </a:rPr>
                        <a:t>Predicate&lt;int&gt;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996859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7748637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6D1BAF-C9E9-5EAE-6BEA-78580A83E6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A3CDEBC-3556-04F2-B24E-C9C442EB7C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Built-in Delegates</a:t>
            </a:r>
            <a:endParaRPr lang="en-US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3B8175C-1EC9-8AF7-DAFE-163784DE5BAD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sz="2800" b="1" dirty="0"/>
              <a:t>Action Delegate</a:t>
            </a:r>
          </a:p>
          <a:p>
            <a:r>
              <a:rPr lang="en-US" sz="2800" b="1" dirty="0"/>
              <a:t>🧠 Concept</a:t>
            </a:r>
          </a:p>
          <a:p>
            <a:r>
              <a:rPr lang="en-US" dirty="0"/>
              <a:t>Action</a:t>
            </a:r>
            <a:r>
              <a:rPr lang="en-US" sz="2800" dirty="0"/>
              <a:t> is used when you want to call a method </a:t>
            </a:r>
            <a:r>
              <a:rPr lang="en-US" sz="2800" b="1" dirty="0"/>
              <a:t>that doesn’t return anything</a:t>
            </a:r>
            <a:r>
              <a:rPr lang="en-US" sz="2800" dirty="0"/>
              <a:t>.</a:t>
            </a:r>
          </a:p>
          <a:p>
            <a:r>
              <a:rPr lang="en-US" sz="2800" dirty="0"/>
              <a:t>It can take </a:t>
            </a:r>
            <a:r>
              <a:rPr lang="en-US" sz="2800" b="1" dirty="0"/>
              <a:t>zero or more parameters</a:t>
            </a:r>
            <a:r>
              <a:rPr lang="en-US" sz="2800" dirty="0"/>
              <a:t>, but the </a:t>
            </a:r>
            <a:r>
              <a:rPr lang="en-US" sz="2800" b="1" dirty="0"/>
              <a:t>return type must be void</a:t>
            </a:r>
            <a:r>
              <a:rPr lang="en-US" sz="2800" dirty="0"/>
              <a:t>.</a:t>
            </a:r>
          </a:p>
          <a:p>
            <a:r>
              <a:rPr lang="en-US" sz="2800" b="1" dirty="0"/>
              <a:t>🧮 Syntax</a:t>
            </a:r>
          </a:p>
          <a:p>
            <a:r>
              <a:rPr lang="en-US" dirty="0"/>
              <a:t>Action&lt;T1, T2, ...&gt; </a:t>
            </a:r>
            <a:r>
              <a:rPr lang="en-US" dirty="0" err="1"/>
              <a:t>actionName</a:t>
            </a:r>
            <a:r>
              <a:rPr lang="en-US" dirty="0"/>
              <a:t> = </a:t>
            </a:r>
            <a:r>
              <a:rPr lang="en-US" dirty="0" err="1"/>
              <a:t>methodName</a:t>
            </a:r>
            <a:r>
              <a:rPr lang="en-US" dirty="0"/>
              <a:t>;</a:t>
            </a:r>
          </a:p>
          <a:p>
            <a:endParaRPr lang="en-US" sz="2800" dirty="0"/>
          </a:p>
          <a:p>
            <a:endParaRPr lang="en-US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7387247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423749-0EE7-AFF1-27B8-8D2527F367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63D36D7-D9EC-316E-8538-1A1904BB16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Built-in Delegates</a:t>
            </a:r>
            <a:endParaRPr lang="en-US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1906874-3175-6A44-EDCE-F81DEA18FC15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sz="2800" b="1" dirty="0"/>
              <a:t>Func Delegate</a:t>
            </a:r>
          </a:p>
          <a:p>
            <a:r>
              <a:rPr lang="en-US" sz="2800" b="1" dirty="0"/>
              <a:t>🧠 Concept</a:t>
            </a:r>
          </a:p>
          <a:p>
            <a:r>
              <a:rPr lang="en-US" dirty="0"/>
              <a:t>Func</a:t>
            </a:r>
            <a:r>
              <a:rPr lang="en-US" sz="2800" dirty="0"/>
              <a:t> is used when you want to call a method </a:t>
            </a:r>
            <a:r>
              <a:rPr lang="en-US" sz="2800" b="1" dirty="0"/>
              <a:t>that returns a value</a:t>
            </a:r>
            <a:r>
              <a:rPr lang="en-US" sz="2800" dirty="0"/>
              <a:t>.</a:t>
            </a:r>
          </a:p>
          <a:p>
            <a:r>
              <a:rPr lang="en-US" sz="2800" dirty="0"/>
              <a:t>It can take </a:t>
            </a:r>
            <a:r>
              <a:rPr lang="en-US" sz="2800" b="1" dirty="0"/>
              <a:t>0 to 16 input parameters</a:t>
            </a:r>
            <a:r>
              <a:rPr lang="en-US" sz="2800" dirty="0"/>
              <a:t>, but the </a:t>
            </a:r>
            <a:r>
              <a:rPr lang="en-US" sz="2800" b="1" dirty="0"/>
              <a:t>last type</a:t>
            </a:r>
            <a:r>
              <a:rPr lang="en-US" sz="2800" dirty="0"/>
              <a:t> is always the </a:t>
            </a:r>
            <a:r>
              <a:rPr lang="en-US" sz="2800" b="1" dirty="0"/>
              <a:t>return type</a:t>
            </a:r>
            <a:r>
              <a:rPr lang="en-US" sz="2800" dirty="0"/>
              <a:t>.</a:t>
            </a:r>
          </a:p>
          <a:p>
            <a:r>
              <a:rPr lang="en-US" sz="2800" b="1" dirty="0"/>
              <a:t>🧮 Syntax</a:t>
            </a:r>
          </a:p>
          <a:p>
            <a:r>
              <a:rPr lang="en-US" dirty="0"/>
              <a:t>Func&lt;T1, T2, </a:t>
            </a:r>
            <a:r>
              <a:rPr lang="en-US" dirty="0" err="1"/>
              <a:t>TResult</a:t>
            </a:r>
            <a:r>
              <a:rPr lang="en-US" dirty="0"/>
              <a:t>&gt; </a:t>
            </a:r>
            <a:r>
              <a:rPr lang="en-US" dirty="0" err="1"/>
              <a:t>funcName</a:t>
            </a:r>
            <a:r>
              <a:rPr lang="en-US" dirty="0"/>
              <a:t> = </a:t>
            </a:r>
            <a:r>
              <a:rPr lang="en-US" dirty="0" err="1"/>
              <a:t>methodName</a:t>
            </a:r>
            <a:r>
              <a:rPr lang="en-US" dirty="0"/>
              <a:t>;</a:t>
            </a:r>
          </a:p>
          <a:p>
            <a:endParaRPr lang="en-US" sz="2800" dirty="0"/>
          </a:p>
          <a:p>
            <a:endParaRPr lang="en-US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9844495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8DA525-6AF1-D1FB-C28D-666DA63AB2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DC01E32-B342-07C4-681A-B5DDE02FAF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Built-in Delegates</a:t>
            </a:r>
            <a:endParaRPr lang="en-US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5D3E41C-6676-54CB-21ED-5AADB39AA178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sz="2800" b="1" dirty="0"/>
              <a:t>Predicate Delegate</a:t>
            </a:r>
          </a:p>
          <a:p>
            <a:r>
              <a:rPr lang="en-US" sz="2800" b="1" dirty="0"/>
              <a:t>🧠 Concept</a:t>
            </a:r>
          </a:p>
          <a:p>
            <a:r>
              <a:rPr lang="en-US" dirty="0"/>
              <a:t>Predicate&lt;T&gt;</a:t>
            </a:r>
            <a:r>
              <a:rPr lang="en-US" sz="2800" dirty="0"/>
              <a:t> is a </a:t>
            </a:r>
            <a:r>
              <a:rPr lang="en-US" sz="2800" b="1" dirty="0"/>
              <a:t>special type of Func</a:t>
            </a:r>
            <a:r>
              <a:rPr lang="en-US" sz="2800" dirty="0"/>
              <a:t> that always:</a:t>
            </a:r>
          </a:p>
          <a:p>
            <a:r>
              <a:rPr lang="en-US" sz="2800" dirty="0"/>
              <a:t>Takes </a:t>
            </a:r>
            <a:r>
              <a:rPr lang="en-US" sz="2800" b="1" dirty="0"/>
              <a:t>one parameter of type T</a:t>
            </a:r>
            <a:endParaRPr lang="en-US" sz="2800" dirty="0"/>
          </a:p>
          <a:p>
            <a:r>
              <a:rPr lang="en-US" sz="2800" dirty="0"/>
              <a:t>Returns </a:t>
            </a:r>
            <a:r>
              <a:rPr lang="en-US" sz="2800" b="1" dirty="0"/>
              <a:t>bool</a:t>
            </a:r>
            <a:endParaRPr lang="en-US" sz="2800" dirty="0"/>
          </a:p>
          <a:p>
            <a:r>
              <a:rPr lang="en-US" sz="2800" dirty="0"/>
              <a:t>It is commonly used to </a:t>
            </a:r>
            <a:r>
              <a:rPr lang="en-US" sz="2800" b="1" dirty="0"/>
              <a:t>check conditions</a:t>
            </a:r>
            <a:r>
              <a:rPr lang="en-US" sz="2800" dirty="0"/>
              <a:t> (true/false).</a:t>
            </a:r>
          </a:p>
          <a:p>
            <a:r>
              <a:rPr lang="en-US" sz="2800" b="1" dirty="0"/>
              <a:t>🧮 Syntax</a:t>
            </a:r>
          </a:p>
          <a:p>
            <a:r>
              <a:rPr lang="en-US" dirty="0"/>
              <a:t>Predicate&lt;T&gt; </a:t>
            </a:r>
            <a:r>
              <a:rPr lang="en-US" dirty="0" err="1"/>
              <a:t>predicateName</a:t>
            </a:r>
            <a:r>
              <a:rPr lang="en-US" dirty="0"/>
              <a:t> = </a:t>
            </a:r>
            <a:r>
              <a:rPr lang="en-US" dirty="0" err="1"/>
              <a:t>methodName</a:t>
            </a:r>
            <a:r>
              <a:rPr lang="en-US" dirty="0"/>
              <a:t>;</a:t>
            </a:r>
          </a:p>
          <a:p>
            <a:endParaRPr lang="en-US" sz="2800" dirty="0"/>
          </a:p>
          <a:p>
            <a:endParaRPr lang="en-US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4063463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6CAEAB-02ED-EE02-16AD-CAE8511B2A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FBD0A87-075E-B221-16F3-F85DFC63F2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Built-in Delegates</a:t>
            </a:r>
            <a:endParaRPr lang="en-US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E191315-A8A4-97CC-F02A-36BC3D97291F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endParaRPr lang="en-US" sz="2800" dirty="0"/>
          </a:p>
          <a:p>
            <a:endParaRPr lang="en-US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D1062BF-BA1D-28A6-3F7B-F75D21579FF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8098460"/>
              </p:ext>
            </p:extLst>
          </p:nvPr>
        </p:nvGraphicFramePr>
        <p:xfrm>
          <a:off x="533400" y="1397000"/>
          <a:ext cx="8534400" cy="4302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6880">
                  <a:extLst>
                    <a:ext uri="{9D8B030D-6E8A-4147-A177-3AD203B41FA5}">
                      <a16:colId xmlns:a16="http://schemas.microsoft.com/office/drawing/2014/main" val="5638230"/>
                    </a:ext>
                  </a:extLst>
                </a:gridCol>
                <a:gridCol w="1706880">
                  <a:extLst>
                    <a:ext uri="{9D8B030D-6E8A-4147-A177-3AD203B41FA5}">
                      <a16:colId xmlns:a16="http://schemas.microsoft.com/office/drawing/2014/main" val="3413354796"/>
                    </a:ext>
                  </a:extLst>
                </a:gridCol>
                <a:gridCol w="1706880">
                  <a:extLst>
                    <a:ext uri="{9D8B030D-6E8A-4147-A177-3AD203B41FA5}">
                      <a16:colId xmlns:a16="http://schemas.microsoft.com/office/drawing/2014/main" val="43158621"/>
                    </a:ext>
                  </a:extLst>
                </a:gridCol>
                <a:gridCol w="1706880">
                  <a:extLst>
                    <a:ext uri="{9D8B030D-6E8A-4147-A177-3AD203B41FA5}">
                      <a16:colId xmlns:a16="http://schemas.microsoft.com/office/drawing/2014/main" val="267777279"/>
                    </a:ext>
                  </a:extLst>
                </a:gridCol>
                <a:gridCol w="1706880">
                  <a:extLst>
                    <a:ext uri="{9D8B030D-6E8A-4147-A177-3AD203B41FA5}">
                      <a16:colId xmlns:a16="http://schemas.microsoft.com/office/drawing/2014/main" val="356721885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Delegate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Purpose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Takes Parameters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Returns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Example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209123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Action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Perform an operation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Yes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ourier New" panose="02070309020205020404" pitchFamily="49" charset="0"/>
                        </a:rPr>
                        <a:t>void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>
                          <a:latin typeface="Courier New" panose="02070309020205020404" pitchFamily="49" charset="0"/>
                        </a:rPr>
                        <a:t>Action&lt;int, int&gt; add = (x,y)=&gt;{}</a:t>
                      </a:r>
                      <a:endParaRPr lang="fr-FR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779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Func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Perform an operation &amp; return a result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Yes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Any type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>
                          <a:latin typeface="Courier New" panose="02070309020205020404" pitchFamily="49" charset="0"/>
                        </a:rPr>
                        <a:t>Func&lt;int,int,int&gt; multiply = (x,y)=&gt;x*y;</a:t>
                      </a:r>
                      <a:endParaRPr lang="fr-FR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519660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Predicate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Test a condition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Exactly one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Courier New" panose="02070309020205020404" pitchFamily="49" charset="0"/>
                        </a:rPr>
                        <a:t>bool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dirty="0">
                          <a:latin typeface="Courier New" panose="02070309020205020404" pitchFamily="49" charset="0"/>
                        </a:rPr>
                        <a:t>Predicate&lt;int&gt; isEven = n =&gt; n%2==0;</a:t>
                      </a:r>
                      <a:endParaRPr lang="pt-BR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376198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2705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9947116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dian">
  <a:themeElements>
    <a:clrScheme name="Median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Median">
      <a:maj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Median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  <a:blipFill>
          <a:blip xmlns:r="http://schemas.openxmlformats.org/officeDocument/2006/relationships" r:embed="rId2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Median</Template>
  <TotalTime>1356</TotalTime>
  <Words>1218</Words>
  <Application>Microsoft Office PowerPoint</Application>
  <PresentationFormat>On-screen Show (4:3)</PresentationFormat>
  <Paragraphs>194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Courier New</vt:lpstr>
      <vt:lpstr>Tw Cen MT</vt:lpstr>
      <vt:lpstr>Wingdings</vt:lpstr>
      <vt:lpstr>Wingdings 2</vt:lpstr>
      <vt:lpstr>Median</vt:lpstr>
      <vt:lpstr>Delegates</vt:lpstr>
      <vt:lpstr>Delegates</vt:lpstr>
      <vt:lpstr>Delegates</vt:lpstr>
      <vt:lpstr>Types of Delegates</vt:lpstr>
      <vt:lpstr>Types of Delegates[Contd.]</vt:lpstr>
      <vt:lpstr>Multicast Delegate</vt:lpstr>
      <vt:lpstr>Multicast Delegate</vt:lpstr>
      <vt:lpstr>Multicast Delegate</vt:lpstr>
      <vt:lpstr>Delegate</vt:lpstr>
      <vt:lpstr>Events</vt:lpstr>
      <vt:lpstr>Anonymous function/method</vt:lpstr>
      <vt:lpstr>Anonymous function/method</vt:lpstr>
      <vt:lpstr>Lambda expression</vt:lpstr>
      <vt:lpstr>Lambda expression Vs Anonymous Method</vt:lpstr>
      <vt:lpstr>Built-in Delegates</vt:lpstr>
      <vt:lpstr>Built-in Delegates</vt:lpstr>
      <vt:lpstr>Built-in Delegates</vt:lpstr>
      <vt:lpstr>Built-in Delegates</vt:lpstr>
      <vt:lpstr>Built-in Delegates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Delegates</dc:title>
  <dc:creator/>
  <cp:lastModifiedBy>Santhosh Kumar</cp:lastModifiedBy>
  <cp:revision>79</cp:revision>
  <dcterms:created xsi:type="dcterms:W3CDTF">2006-08-16T00:00:00Z</dcterms:created>
  <dcterms:modified xsi:type="dcterms:W3CDTF">2025-10-05T14:05:08Z</dcterms:modified>
</cp:coreProperties>
</file>