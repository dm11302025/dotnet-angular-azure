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13"/>
  </p:notesMasterIdLst>
  <p:sldIdLst>
    <p:sldId id="256" r:id="rId2"/>
    <p:sldId id="257" r:id="rId3"/>
    <p:sldId id="258" r:id="rId4"/>
    <p:sldId id="259" r:id="rId5"/>
    <p:sldId id="260" r:id="rId6"/>
    <p:sldId id="266" r:id="rId7"/>
    <p:sldId id="261" r:id="rId8"/>
    <p:sldId id="264" r:id="rId9"/>
    <p:sldId id="262" r:id="rId10"/>
    <p:sldId id="263" r:id="rId11"/>
    <p:sldId id="265"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9" d="100"/>
          <a:sy n="59" d="100"/>
        </p:scale>
        <p:origin x="142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111890-ADB2-42F8-9DE8-1D2F76130D1C}" type="datetimeFigureOut">
              <a:rPr lang="en-US" smtClean="0"/>
              <a:t>10/7/2025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499936-D88E-4A03-97C1-9FF5E04377E4}" type="slidenum">
              <a:rPr lang="en-US" smtClean="0"/>
              <a:t>‹#›</a:t>
            </a:fld>
            <a:endParaRPr lang="en-US"/>
          </a:p>
        </p:txBody>
      </p:sp>
    </p:spTree>
    <p:extLst>
      <p:ext uri="{BB962C8B-B14F-4D97-AF65-F5344CB8AC3E}">
        <p14:creationId xmlns:p14="http://schemas.microsoft.com/office/powerpoint/2010/main" val="796446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499936-D88E-4A03-97C1-9FF5E04377E4}" type="slidenum">
              <a:rPr lang="en-US" smtClean="0"/>
              <a:t>9</a:t>
            </a:fld>
            <a:endParaRPr lang="en-US"/>
          </a:p>
        </p:txBody>
      </p:sp>
    </p:spTree>
    <p:extLst>
      <p:ext uri="{BB962C8B-B14F-4D97-AF65-F5344CB8AC3E}">
        <p14:creationId xmlns:p14="http://schemas.microsoft.com/office/powerpoint/2010/main" val="2598475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10/7/2025</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1D8BD707-D9CF-40AE-B4C6-C98DA3205C09}" type="datetimeFigureOut">
              <a:rPr lang="en-US" smtClean="0"/>
              <a:pPr/>
              <a:t>10/7/2025</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10/7/2025</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10/7/2025</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10/7/2025</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10/7/2025</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10/7/2025</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 SOLID Design Principles</a:t>
            </a:r>
          </a:p>
        </p:txBody>
      </p:sp>
      <p:sp>
        <p:nvSpPr>
          <p:cNvPr id="5" name="Content Placeholder 4"/>
          <p:cNvSpPr>
            <a:spLocks noGrp="1"/>
          </p:cNvSpPr>
          <p:nvPr>
            <p:ph sz="quarter" idx="1"/>
          </p:nvPr>
        </p:nvSpPr>
        <p:spPr/>
        <p:txBody>
          <a:bodyPr>
            <a:normAutofit/>
          </a:bodyPr>
          <a:lstStyle/>
          <a:p>
            <a:r>
              <a:rPr lang="en-US" sz="1500" dirty="0"/>
              <a:t>The SOLID Design Principles are used to manage the majority of software design problems that developers face daily.</a:t>
            </a:r>
          </a:p>
          <a:p>
            <a:r>
              <a:rPr lang="en-US" sz="1600" dirty="0"/>
              <a:t>SOLID principles are five design principles that help software developers create more maintainable, scalable, and flexible code. </a:t>
            </a:r>
          </a:p>
          <a:p>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 SOLID Design Principles</a:t>
            </a:r>
          </a:p>
        </p:txBody>
      </p:sp>
      <p:sp>
        <p:nvSpPr>
          <p:cNvPr id="5" name="Content Placeholder 4"/>
          <p:cNvSpPr>
            <a:spLocks noGrp="1"/>
          </p:cNvSpPr>
          <p:nvPr>
            <p:ph sz="quarter" idx="1"/>
          </p:nvPr>
        </p:nvSpPr>
        <p:spPr/>
        <p:txBody>
          <a:bodyPr>
            <a:normAutofit/>
          </a:bodyPr>
          <a:lstStyle/>
          <a:p>
            <a:r>
              <a:rPr lang="en-US" sz="2000" dirty="0"/>
              <a:t>There are five SOLID principles</a:t>
            </a:r>
          </a:p>
          <a:p>
            <a:r>
              <a:rPr lang="en-US" sz="2000" dirty="0"/>
              <a:t>1.Single Responsibility Principle (SRP)</a:t>
            </a:r>
          </a:p>
          <a:p>
            <a:r>
              <a:rPr lang="en-US" sz="2000" dirty="0"/>
              <a:t>2.Open Closed Principle (OCP)</a:t>
            </a:r>
          </a:p>
          <a:p>
            <a:r>
              <a:rPr lang="en-US" sz="2000" dirty="0"/>
              <a:t>3.Liskov Substitution Principle (LSP)</a:t>
            </a:r>
          </a:p>
          <a:p>
            <a:r>
              <a:rPr lang="en-US" sz="2000" dirty="0"/>
              <a:t>4.Interface Segregation Principle (ISP)</a:t>
            </a:r>
          </a:p>
          <a:p>
            <a:r>
              <a:rPr lang="en-US" sz="2000" dirty="0"/>
              <a:t>5.Dependency Inversion Principle (DIP)</a:t>
            </a:r>
          </a:p>
        </p:txBody>
      </p:sp>
    </p:spTree>
    <p:extLst>
      <p:ext uri="{BB962C8B-B14F-4D97-AF65-F5344CB8AC3E}">
        <p14:creationId xmlns:p14="http://schemas.microsoft.com/office/powerpoint/2010/main" val="4182578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 Single Responsibility Principle (SRP)</a:t>
            </a:r>
          </a:p>
        </p:txBody>
      </p:sp>
      <p:sp>
        <p:nvSpPr>
          <p:cNvPr id="5" name="Content Placeholder 4"/>
          <p:cNvSpPr>
            <a:spLocks noGrp="1"/>
          </p:cNvSpPr>
          <p:nvPr>
            <p:ph sz="quarter" idx="1"/>
          </p:nvPr>
        </p:nvSpPr>
        <p:spPr/>
        <p:txBody>
          <a:bodyPr>
            <a:normAutofit fontScale="85000" lnSpcReduction="20000"/>
          </a:bodyPr>
          <a:lstStyle/>
          <a:p>
            <a:r>
              <a:rPr lang="en-US" sz="2000" b="1" dirty="0"/>
              <a:t>Definition: </a:t>
            </a:r>
            <a:r>
              <a:rPr lang="en-US" sz="2000" dirty="0"/>
              <a:t>A class should have only one reason to change. that is, it should have </a:t>
            </a:r>
            <a:r>
              <a:rPr lang="en-US" sz="2000" b="1" dirty="0"/>
              <a:t>only one responsibility</a:t>
            </a:r>
            <a:r>
              <a:rPr lang="en-US" sz="2000" dirty="0"/>
              <a:t>.</a:t>
            </a:r>
          </a:p>
          <a:p>
            <a:r>
              <a:rPr lang="en-US" sz="2000" dirty="0"/>
              <a:t>This means that a class should not be loaded with multiple responsibilities, and a single responsibility should not be spread across multiple classes or mixed with other responsibilities. </a:t>
            </a:r>
          </a:p>
          <a:p>
            <a:r>
              <a:rPr lang="en-US" sz="2000" b="1" dirty="0"/>
              <a:t>Why SRP Is Important</a:t>
            </a:r>
          </a:p>
          <a:p>
            <a:r>
              <a:rPr lang="en-US" sz="2000" dirty="0"/>
              <a:t>When a class tries to handle </a:t>
            </a:r>
            <a:r>
              <a:rPr lang="en-US" sz="2000" b="1" dirty="0"/>
              <a:t>too many responsibilities</a:t>
            </a:r>
            <a:r>
              <a:rPr lang="en-US" sz="2000" dirty="0"/>
              <a:t>, it:</a:t>
            </a:r>
          </a:p>
          <a:p>
            <a:r>
              <a:rPr lang="en-US" sz="2000" dirty="0"/>
              <a:t>Becomes </a:t>
            </a:r>
            <a:r>
              <a:rPr lang="en-US" sz="2000" b="1" dirty="0"/>
              <a:t>difficult to maintain</a:t>
            </a:r>
            <a:r>
              <a:rPr lang="en-US" sz="2000" dirty="0"/>
              <a:t> (a change in one part can break another).</a:t>
            </a:r>
          </a:p>
          <a:p>
            <a:r>
              <a:rPr lang="en-US" sz="2000" dirty="0"/>
              <a:t>Becomes </a:t>
            </a:r>
            <a:r>
              <a:rPr lang="en-US" sz="2000" b="1" dirty="0"/>
              <a:t>hard to test</a:t>
            </a:r>
            <a:r>
              <a:rPr lang="en-US" sz="2000" dirty="0"/>
              <a:t> (too many behaviors in one place).</a:t>
            </a:r>
          </a:p>
          <a:p>
            <a:r>
              <a:rPr lang="en-US" sz="2000" dirty="0"/>
              <a:t>Violates </a:t>
            </a:r>
            <a:r>
              <a:rPr lang="en-US" sz="2000" b="1" dirty="0"/>
              <a:t>separation of concerns</a:t>
            </a:r>
            <a:r>
              <a:rPr lang="en-US" sz="2000" dirty="0"/>
              <a:t>.</a:t>
            </a:r>
          </a:p>
          <a:p>
            <a:r>
              <a:rPr lang="en-US" sz="2000" b="1" dirty="0"/>
              <a:t>Real-World Analogy</a:t>
            </a:r>
          </a:p>
          <a:p>
            <a:r>
              <a:rPr lang="en-US" sz="2000" dirty="0"/>
              <a:t>Think of a </a:t>
            </a:r>
            <a:r>
              <a:rPr lang="en-US" sz="2000" b="1" dirty="0"/>
              <a:t>restaurant kitchen</a:t>
            </a:r>
            <a:r>
              <a:rPr lang="en-US" sz="2000" dirty="0"/>
              <a:t> 🍽️:</a:t>
            </a:r>
          </a:p>
          <a:p>
            <a:r>
              <a:rPr lang="en-US" sz="2000" dirty="0"/>
              <a:t>The </a:t>
            </a:r>
            <a:r>
              <a:rPr lang="en-US" sz="2000" b="1" dirty="0"/>
              <a:t>chef</a:t>
            </a:r>
            <a:r>
              <a:rPr lang="en-US" sz="2000" dirty="0"/>
              <a:t> cooks food.</a:t>
            </a:r>
          </a:p>
          <a:p>
            <a:r>
              <a:rPr lang="en-US" sz="2000" dirty="0"/>
              <a:t>The </a:t>
            </a:r>
            <a:r>
              <a:rPr lang="en-US" sz="2000" b="1" dirty="0"/>
              <a:t>waiter</a:t>
            </a:r>
            <a:r>
              <a:rPr lang="en-US" sz="2000" dirty="0"/>
              <a:t> serves customers.</a:t>
            </a:r>
          </a:p>
          <a:p>
            <a:r>
              <a:rPr lang="en-US" sz="2000" dirty="0"/>
              <a:t>The </a:t>
            </a:r>
            <a:r>
              <a:rPr lang="en-US" sz="2000" b="1" dirty="0"/>
              <a:t>cashier</a:t>
            </a:r>
            <a:r>
              <a:rPr lang="en-US" sz="2000" dirty="0"/>
              <a:t> handles payments.</a:t>
            </a:r>
          </a:p>
          <a:p>
            <a:r>
              <a:rPr lang="en-US" sz="2000" dirty="0"/>
              <a:t>If one person tries to do </a:t>
            </a:r>
            <a:r>
              <a:rPr lang="en-US" sz="2000" b="1" dirty="0"/>
              <a:t>all three</a:t>
            </a:r>
            <a:r>
              <a:rPr lang="en-US" sz="2000" dirty="0"/>
              <a:t>, it becomes chaotic and inefficient.</a:t>
            </a:r>
          </a:p>
          <a:p>
            <a:endParaRPr lang="en-US" sz="2000" dirty="0"/>
          </a:p>
        </p:txBody>
      </p:sp>
    </p:spTree>
    <p:extLst>
      <p:ext uri="{BB962C8B-B14F-4D97-AF65-F5344CB8AC3E}">
        <p14:creationId xmlns:p14="http://schemas.microsoft.com/office/powerpoint/2010/main" val="200123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 Open Closed Principle (OCP)</a:t>
            </a:r>
          </a:p>
        </p:txBody>
      </p:sp>
      <p:sp>
        <p:nvSpPr>
          <p:cNvPr id="5" name="Content Placeholder 4"/>
          <p:cNvSpPr>
            <a:spLocks noGrp="1"/>
          </p:cNvSpPr>
          <p:nvPr>
            <p:ph sz="quarter" idx="1"/>
          </p:nvPr>
        </p:nvSpPr>
        <p:spPr/>
        <p:txBody>
          <a:bodyPr>
            <a:normAutofit fontScale="92500" lnSpcReduction="20000"/>
          </a:bodyPr>
          <a:lstStyle/>
          <a:p>
            <a:r>
              <a:rPr lang="en-US" sz="1700" b="1" dirty="0"/>
              <a:t>Definition: </a:t>
            </a:r>
            <a:r>
              <a:rPr lang="en-US" sz="1700" dirty="0"/>
              <a:t>Software entities (classes, modules, functions, etc.) should be open for extension, but closed for modification.</a:t>
            </a:r>
          </a:p>
          <a:p>
            <a:r>
              <a:rPr lang="en-US" sz="1800" dirty="0"/>
              <a:t>That means You should be able to </a:t>
            </a:r>
            <a:r>
              <a:rPr lang="en-US" sz="1800" b="1" dirty="0"/>
              <a:t>add new functionality</a:t>
            </a:r>
            <a:r>
              <a:rPr lang="en-US" sz="1800" dirty="0"/>
              <a:t> without </a:t>
            </a:r>
            <a:r>
              <a:rPr lang="en-US" sz="1800" b="1" dirty="0"/>
              <a:t>modifying existing code</a:t>
            </a:r>
            <a:r>
              <a:rPr lang="en-US" sz="1800" dirty="0"/>
              <a:t>.</a:t>
            </a:r>
            <a:endParaRPr lang="en-US" sz="1700" dirty="0"/>
          </a:p>
          <a:p>
            <a:r>
              <a:rPr lang="en-US" sz="1800" b="1" dirty="0"/>
              <a:t>Why OCP Is Important</a:t>
            </a:r>
          </a:p>
          <a:p>
            <a:r>
              <a:rPr lang="en-US" sz="1800" dirty="0"/>
              <a:t>When you frequently change existing classes:</a:t>
            </a:r>
          </a:p>
          <a:p>
            <a:r>
              <a:rPr lang="en-US" sz="1800" dirty="0"/>
              <a:t>You risk introducing </a:t>
            </a:r>
            <a:r>
              <a:rPr lang="en-US" sz="1800" b="1" dirty="0"/>
              <a:t>bugs</a:t>
            </a:r>
            <a:r>
              <a:rPr lang="en-US" sz="1800" dirty="0"/>
              <a:t> in working code.</a:t>
            </a:r>
          </a:p>
          <a:p>
            <a:r>
              <a:rPr lang="en-US" sz="1800" dirty="0"/>
              <a:t>It becomes hard to </a:t>
            </a:r>
            <a:r>
              <a:rPr lang="en-US" sz="1800" b="1" dirty="0"/>
              <a:t>extend features</a:t>
            </a:r>
            <a:r>
              <a:rPr lang="en-US" sz="1800" dirty="0"/>
              <a:t> without breaking existing ones.</a:t>
            </a:r>
          </a:p>
          <a:p>
            <a:r>
              <a:rPr lang="en-US" sz="1800" dirty="0"/>
              <a:t>Instead, you design your system so that you can </a:t>
            </a:r>
            <a:r>
              <a:rPr lang="en-US" sz="1800" b="1" dirty="0"/>
              <a:t>extend behavior via new classes</a:t>
            </a:r>
            <a:r>
              <a:rPr lang="en-US" sz="1800" dirty="0"/>
              <a:t>, </a:t>
            </a:r>
            <a:r>
              <a:rPr lang="en-US" sz="1800" b="1" dirty="0"/>
              <a:t>not by editing existing ones</a:t>
            </a:r>
            <a:r>
              <a:rPr lang="en-US" sz="1800" dirty="0"/>
              <a:t>.</a:t>
            </a:r>
          </a:p>
          <a:p>
            <a:r>
              <a:rPr lang="en-US" sz="1800" b="1" dirty="0"/>
              <a:t>Real-World Analogy</a:t>
            </a:r>
          </a:p>
          <a:p>
            <a:r>
              <a:rPr lang="en-US" sz="1800" dirty="0"/>
              <a:t>Think of a </a:t>
            </a:r>
            <a:r>
              <a:rPr lang="en-US" sz="1800" b="1" dirty="0"/>
              <a:t>mobile phone with a charging port</a:t>
            </a:r>
            <a:r>
              <a:rPr lang="en-US" sz="1800" dirty="0"/>
              <a:t> 🔌</a:t>
            </a:r>
          </a:p>
          <a:p>
            <a:r>
              <a:rPr lang="en-US" sz="1800" dirty="0"/>
              <a:t>The phone is </a:t>
            </a:r>
            <a:r>
              <a:rPr lang="en-US" sz="1800" b="1" dirty="0"/>
              <a:t>closed for modification</a:t>
            </a:r>
            <a:r>
              <a:rPr lang="en-US" sz="1800" dirty="0"/>
              <a:t> — you don’t open it every time to change how charging works.</a:t>
            </a:r>
          </a:p>
          <a:p>
            <a:r>
              <a:rPr lang="en-US" sz="1800" dirty="0"/>
              <a:t>But it’s </a:t>
            </a:r>
            <a:r>
              <a:rPr lang="en-US" sz="1800" b="1" dirty="0"/>
              <a:t>open for extension</a:t>
            </a:r>
            <a:r>
              <a:rPr lang="en-US" sz="1800" dirty="0"/>
              <a:t> — you can connect new chargers, power banks, or docks via the </a:t>
            </a:r>
            <a:r>
              <a:rPr lang="en-US" sz="1800" b="1" dirty="0"/>
              <a:t>standard interface (USB-C port)</a:t>
            </a:r>
            <a:r>
              <a:rPr lang="en-US" sz="1800" dirty="0"/>
              <a:t>.</a:t>
            </a:r>
          </a:p>
          <a:p>
            <a:endParaRPr lang="en-US" sz="1700" dirty="0"/>
          </a:p>
        </p:txBody>
      </p:sp>
    </p:spTree>
    <p:extLst>
      <p:ext uri="{BB962C8B-B14F-4D97-AF65-F5344CB8AC3E}">
        <p14:creationId xmlns:p14="http://schemas.microsoft.com/office/powerpoint/2010/main" val="819154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 </a:t>
            </a:r>
            <a:r>
              <a:rPr lang="en-US" dirty="0" err="1"/>
              <a:t>Liskov</a:t>
            </a:r>
            <a:r>
              <a:rPr lang="en-US" dirty="0"/>
              <a:t> Substitution Principle (LSP)</a:t>
            </a:r>
          </a:p>
        </p:txBody>
      </p:sp>
      <p:sp>
        <p:nvSpPr>
          <p:cNvPr id="5" name="Content Placeholder 4"/>
          <p:cNvSpPr>
            <a:spLocks noGrp="1"/>
          </p:cNvSpPr>
          <p:nvPr>
            <p:ph sz="quarter" idx="1"/>
          </p:nvPr>
        </p:nvSpPr>
        <p:spPr/>
        <p:txBody>
          <a:bodyPr>
            <a:normAutofit/>
          </a:bodyPr>
          <a:lstStyle/>
          <a:p>
            <a:r>
              <a:rPr lang="en-US" sz="1800" b="1" dirty="0"/>
              <a:t>Definition</a:t>
            </a:r>
          </a:p>
          <a:p>
            <a:r>
              <a:rPr lang="en-US" sz="1800" dirty="0"/>
              <a:t>“Subtypes must be substitutable for their base types.”</a:t>
            </a:r>
          </a:p>
          <a:p>
            <a:r>
              <a:rPr lang="en-US" sz="1800" dirty="0"/>
              <a:t>In simpler words:</a:t>
            </a:r>
            <a:br>
              <a:rPr lang="en-US" sz="1800" dirty="0"/>
            </a:br>
            <a:r>
              <a:rPr lang="en-US" sz="1800" dirty="0"/>
              <a:t>If class </a:t>
            </a:r>
            <a:r>
              <a:rPr lang="en-US" sz="1800" b="1" dirty="0"/>
              <a:t>B</a:t>
            </a:r>
            <a:r>
              <a:rPr lang="en-US" sz="1800" dirty="0"/>
              <a:t> inherits from class </a:t>
            </a:r>
            <a:r>
              <a:rPr lang="en-US" sz="1800" b="1" dirty="0"/>
              <a:t>A</a:t>
            </a:r>
            <a:r>
              <a:rPr lang="en-US" sz="1800" dirty="0"/>
              <a:t>, you should be able to use </a:t>
            </a:r>
            <a:r>
              <a:rPr lang="en-US" sz="1800" b="1" dirty="0"/>
              <a:t>B</a:t>
            </a:r>
            <a:r>
              <a:rPr lang="en-US" sz="1800" dirty="0"/>
              <a:t> anywhere you use </a:t>
            </a:r>
            <a:r>
              <a:rPr lang="en-US" sz="1800" b="1" dirty="0"/>
              <a:t>A</a:t>
            </a:r>
            <a:r>
              <a:rPr lang="en-US" sz="1800" dirty="0"/>
              <a:t>,</a:t>
            </a:r>
            <a:br>
              <a:rPr lang="en-US" sz="1800" dirty="0"/>
            </a:br>
            <a:r>
              <a:rPr lang="en-US" sz="1800" b="1" dirty="0"/>
              <a:t>without breaking the program’s behavior</a:t>
            </a:r>
            <a:r>
              <a:rPr lang="en-US" sz="1800" dirty="0"/>
              <a:t>.</a:t>
            </a:r>
          </a:p>
          <a:p>
            <a:r>
              <a:rPr lang="en-US" sz="1800" b="1" dirty="0"/>
              <a:t>What It Means</a:t>
            </a:r>
          </a:p>
          <a:p>
            <a:r>
              <a:rPr lang="en-US" sz="1800" dirty="0"/>
              <a:t>When we use inheritance, the </a:t>
            </a:r>
            <a:r>
              <a:rPr lang="en-US" sz="1800" b="1" dirty="0"/>
              <a:t>child class</a:t>
            </a:r>
            <a:r>
              <a:rPr lang="en-US" sz="1800" dirty="0"/>
              <a:t> should:</a:t>
            </a:r>
          </a:p>
          <a:p>
            <a:r>
              <a:rPr lang="en-US" sz="1800" dirty="0"/>
              <a:t>Behave like the </a:t>
            </a:r>
            <a:r>
              <a:rPr lang="en-US" sz="1800" b="1" dirty="0"/>
              <a:t>parent class</a:t>
            </a:r>
            <a:r>
              <a:rPr lang="en-US" sz="1800" dirty="0"/>
              <a:t>.</a:t>
            </a:r>
          </a:p>
          <a:p>
            <a:r>
              <a:rPr lang="en-US" sz="1800" b="1" dirty="0"/>
              <a:t>Not violate expectations</a:t>
            </a:r>
            <a:r>
              <a:rPr lang="en-US" sz="1800" dirty="0"/>
              <a:t> of how the parent behaves.</a:t>
            </a:r>
          </a:p>
          <a:p>
            <a:r>
              <a:rPr lang="en-US" sz="1800" dirty="0"/>
              <a:t>If the subclass changes the expected behavior of the base class, then it </a:t>
            </a:r>
            <a:r>
              <a:rPr lang="en-US" sz="1800" b="1" dirty="0"/>
              <a:t>breaks LSP</a:t>
            </a:r>
            <a:r>
              <a:rPr lang="en-US" sz="1800" dirty="0"/>
              <a:t>.</a:t>
            </a:r>
          </a:p>
          <a:p>
            <a:endParaRPr lang="en-US" sz="1700" dirty="0"/>
          </a:p>
        </p:txBody>
      </p:sp>
    </p:spTree>
    <p:extLst>
      <p:ext uri="{BB962C8B-B14F-4D97-AF65-F5344CB8AC3E}">
        <p14:creationId xmlns:p14="http://schemas.microsoft.com/office/powerpoint/2010/main" val="498306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ABE82-B120-ECD6-EFC7-F006E66A84F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C1B2F0A-354F-6370-AF44-11972A03C782}"/>
              </a:ext>
            </a:extLst>
          </p:cNvPr>
          <p:cNvSpPr>
            <a:spLocks noGrp="1"/>
          </p:cNvSpPr>
          <p:nvPr>
            <p:ph type="title"/>
          </p:nvPr>
        </p:nvSpPr>
        <p:spPr/>
        <p:txBody>
          <a:bodyPr/>
          <a:lstStyle/>
          <a:p>
            <a:r>
              <a:rPr lang="en-US" dirty="0"/>
              <a:t> </a:t>
            </a:r>
            <a:r>
              <a:rPr lang="en-US" dirty="0" err="1"/>
              <a:t>Liskov</a:t>
            </a:r>
            <a:r>
              <a:rPr lang="en-US" dirty="0"/>
              <a:t> Substitution Principle (LSP)</a:t>
            </a:r>
          </a:p>
        </p:txBody>
      </p:sp>
      <p:sp>
        <p:nvSpPr>
          <p:cNvPr id="5" name="Content Placeholder 4">
            <a:extLst>
              <a:ext uri="{FF2B5EF4-FFF2-40B4-BE49-F238E27FC236}">
                <a16:creationId xmlns:a16="http://schemas.microsoft.com/office/drawing/2014/main" id="{02B7453C-0656-C4AD-014C-48B01E720D09}"/>
              </a:ext>
            </a:extLst>
          </p:cNvPr>
          <p:cNvSpPr>
            <a:spLocks noGrp="1"/>
          </p:cNvSpPr>
          <p:nvPr>
            <p:ph sz="quarter" idx="1"/>
          </p:nvPr>
        </p:nvSpPr>
        <p:spPr/>
        <p:txBody>
          <a:bodyPr>
            <a:normAutofit/>
          </a:bodyPr>
          <a:lstStyle/>
          <a:p>
            <a:r>
              <a:rPr lang="en-US" sz="1800" b="1" dirty="0"/>
              <a:t>Real-World Analogy</a:t>
            </a:r>
          </a:p>
          <a:p>
            <a:r>
              <a:rPr lang="en-US" sz="1800" dirty="0"/>
              <a:t>Imagine you have a </a:t>
            </a:r>
            <a:r>
              <a:rPr lang="en-US" sz="1800" b="1" dirty="0"/>
              <a:t>universal remote control</a:t>
            </a:r>
            <a:r>
              <a:rPr lang="en-US" sz="1800" dirty="0"/>
              <a:t> 🎮.</a:t>
            </a:r>
            <a:br>
              <a:rPr lang="en-US" sz="1800" dirty="0"/>
            </a:br>
            <a:r>
              <a:rPr lang="en-US" sz="1800" dirty="0"/>
              <a:t>It works with your </a:t>
            </a:r>
            <a:r>
              <a:rPr lang="en-US" sz="1800" b="1" dirty="0"/>
              <a:t>TV</a:t>
            </a:r>
            <a:r>
              <a:rPr lang="en-US" sz="1800" dirty="0"/>
              <a:t>, </a:t>
            </a:r>
            <a:r>
              <a:rPr lang="en-US" sz="1800" b="1" dirty="0"/>
              <a:t>Soundbar</a:t>
            </a:r>
            <a:r>
              <a:rPr lang="en-US" sz="1800" dirty="0"/>
              <a:t>, and </a:t>
            </a:r>
            <a:r>
              <a:rPr lang="en-US" sz="1800" b="1" dirty="0"/>
              <a:t>Projector</a:t>
            </a:r>
            <a:r>
              <a:rPr lang="en-US" sz="1800" dirty="0"/>
              <a:t> — all devices that follow a </a:t>
            </a:r>
            <a:r>
              <a:rPr lang="en-US" sz="1800" b="1" dirty="0"/>
              <a:t>common interface</a:t>
            </a:r>
            <a:r>
              <a:rPr lang="en-US" sz="1800" dirty="0"/>
              <a:t>.</a:t>
            </a:r>
          </a:p>
          <a:p>
            <a:r>
              <a:rPr lang="en-US" sz="1800" dirty="0"/>
              <a:t>But if you buy a “Smart Lamp” that claims to work with the same remote but doesn’t respond correctly (e.g., it turns off when you press volume up) —</a:t>
            </a:r>
            <a:br>
              <a:rPr lang="en-US" sz="1800" dirty="0"/>
            </a:br>
            <a:r>
              <a:rPr lang="en-US" sz="1800" dirty="0"/>
              <a:t>it </a:t>
            </a:r>
            <a:r>
              <a:rPr lang="en-US" sz="1800" b="1" dirty="0"/>
              <a:t>breaks substitution</a:t>
            </a:r>
            <a:r>
              <a:rPr lang="en-US" sz="1800" dirty="0"/>
              <a:t>.</a:t>
            </a:r>
          </a:p>
          <a:p>
            <a:r>
              <a:rPr lang="en-US" sz="1800" b="1" dirty="0"/>
              <a:t>Quick Rule of Thumb:</a:t>
            </a:r>
            <a:br>
              <a:rPr lang="en-US" sz="1800" dirty="0"/>
            </a:br>
            <a:r>
              <a:rPr lang="en-US" sz="1800" dirty="0"/>
              <a:t>If a subclass </a:t>
            </a:r>
            <a:r>
              <a:rPr lang="en-US" sz="1800" b="1" dirty="0"/>
              <a:t>needs to disable</a:t>
            </a:r>
            <a:r>
              <a:rPr lang="en-US" sz="1800" dirty="0"/>
              <a:t> or </a:t>
            </a:r>
            <a:r>
              <a:rPr lang="en-US" sz="1800" b="1" dirty="0"/>
              <a:t>throw exceptions</a:t>
            </a:r>
            <a:r>
              <a:rPr lang="en-US" sz="1800" dirty="0"/>
              <a:t> for base class methods →</a:t>
            </a:r>
            <a:br>
              <a:rPr lang="en-US" sz="1800" dirty="0"/>
            </a:br>
            <a:r>
              <a:rPr lang="en-US" sz="1800" dirty="0"/>
              <a:t>👉 that’s a clear </a:t>
            </a:r>
            <a:r>
              <a:rPr lang="en-US" sz="1800" b="1" dirty="0"/>
              <a:t>LSP violation</a:t>
            </a:r>
            <a:r>
              <a:rPr lang="en-US" sz="1800" dirty="0"/>
              <a:t>.</a:t>
            </a:r>
            <a:endParaRPr lang="en-US" sz="1700" dirty="0"/>
          </a:p>
        </p:txBody>
      </p:sp>
    </p:spTree>
    <p:extLst>
      <p:ext uri="{BB962C8B-B14F-4D97-AF65-F5344CB8AC3E}">
        <p14:creationId xmlns:p14="http://schemas.microsoft.com/office/powerpoint/2010/main" val="1741284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 Interface Segregation Principle (ISP)</a:t>
            </a:r>
          </a:p>
        </p:txBody>
      </p:sp>
      <p:sp>
        <p:nvSpPr>
          <p:cNvPr id="5" name="Content Placeholder 4"/>
          <p:cNvSpPr>
            <a:spLocks noGrp="1"/>
          </p:cNvSpPr>
          <p:nvPr>
            <p:ph sz="quarter" idx="1"/>
          </p:nvPr>
        </p:nvSpPr>
        <p:spPr/>
        <p:txBody>
          <a:bodyPr>
            <a:normAutofit/>
          </a:bodyPr>
          <a:lstStyle/>
          <a:p>
            <a:r>
              <a:rPr lang="en-US" sz="2000" b="1" dirty="0"/>
              <a:t>Definition</a:t>
            </a:r>
            <a:r>
              <a:rPr lang="en-US" sz="2000" dirty="0"/>
              <a:t>:</a:t>
            </a:r>
            <a:br>
              <a:rPr lang="en-US" sz="2000" dirty="0"/>
            </a:br>
            <a:r>
              <a:rPr lang="en-US" sz="2000" dirty="0"/>
              <a:t>A class </a:t>
            </a:r>
            <a:r>
              <a:rPr lang="en-US" sz="2000" b="1" dirty="0"/>
              <a:t>should not be forced</a:t>
            </a:r>
            <a:r>
              <a:rPr lang="en-US" sz="2000" dirty="0"/>
              <a:t> to implement methods it doesn’t need.</a:t>
            </a:r>
            <a:br>
              <a:rPr lang="en-US" sz="2000" dirty="0"/>
            </a:br>
            <a:r>
              <a:rPr lang="en-US" sz="2000" dirty="0"/>
              <a:t>Instead of one "fat" interface with many methods, we should split it into </a:t>
            </a:r>
            <a:r>
              <a:rPr lang="en-US" sz="2000" b="1" dirty="0"/>
              <a:t>smaller, more specific interfaces</a:t>
            </a:r>
            <a:r>
              <a:rPr lang="en-US" sz="2000" dirty="0"/>
              <a:t>.</a:t>
            </a:r>
          </a:p>
          <a:p>
            <a:r>
              <a:rPr lang="en-US" sz="2000" dirty="0"/>
              <a:t>The Interface Segregation Principle is one of the SOLID principles in object-oriented design. It says: a class should not be forced to depend on methods it does not use. In practice, this means you should split large interfaces into smaller, more specific ones so that classes only implement what they actually need</a:t>
            </a:r>
          </a:p>
          <a:p>
            <a:r>
              <a:rPr lang="en-US" sz="2000" dirty="0"/>
              <a:t>Using ISP, we can create separate interfaces for each operation or requirement rather than having a single class to do the same work.</a:t>
            </a:r>
          </a:p>
          <a:p>
            <a:endParaRPr lang="en-US" sz="1700" dirty="0"/>
          </a:p>
        </p:txBody>
      </p:sp>
    </p:spTree>
    <p:extLst>
      <p:ext uri="{BB962C8B-B14F-4D97-AF65-F5344CB8AC3E}">
        <p14:creationId xmlns:p14="http://schemas.microsoft.com/office/powerpoint/2010/main" val="3514486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8028E-0E61-0BA1-2DAC-D8194D50051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37FC67E-F5B8-E340-8404-E26398B336DF}"/>
              </a:ext>
            </a:extLst>
          </p:cNvPr>
          <p:cNvSpPr>
            <a:spLocks noGrp="1"/>
          </p:cNvSpPr>
          <p:nvPr>
            <p:ph type="title"/>
          </p:nvPr>
        </p:nvSpPr>
        <p:spPr/>
        <p:txBody>
          <a:bodyPr>
            <a:normAutofit fontScale="90000"/>
          </a:bodyPr>
          <a:lstStyle/>
          <a:p>
            <a:r>
              <a:rPr lang="en-US" dirty="0"/>
              <a:t> Interface Segregation Principle (ISP)</a:t>
            </a:r>
          </a:p>
        </p:txBody>
      </p:sp>
      <p:sp>
        <p:nvSpPr>
          <p:cNvPr id="5" name="Content Placeholder 4">
            <a:extLst>
              <a:ext uri="{FF2B5EF4-FFF2-40B4-BE49-F238E27FC236}">
                <a16:creationId xmlns:a16="http://schemas.microsoft.com/office/drawing/2014/main" id="{CEDFB6FD-FC57-82E3-324A-B6F27309A64A}"/>
              </a:ext>
            </a:extLst>
          </p:cNvPr>
          <p:cNvSpPr>
            <a:spLocks noGrp="1"/>
          </p:cNvSpPr>
          <p:nvPr>
            <p:ph sz="quarter" idx="1"/>
          </p:nvPr>
        </p:nvSpPr>
        <p:spPr/>
        <p:txBody>
          <a:bodyPr>
            <a:normAutofit lnSpcReduction="10000"/>
          </a:bodyPr>
          <a:lstStyle/>
          <a:p>
            <a:r>
              <a:rPr lang="en-US" sz="1800" b="1" dirty="0"/>
              <a:t>🚌 Public Transport Analogy</a:t>
            </a:r>
          </a:p>
          <a:p>
            <a:r>
              <a:rPr lang="en-US" sz="1800" dirty="0"/>
              <a:t>Imagine a </a:t>
            </a:r>
            <a:r>
              <a:rPr lang="en-US" sz="1800" b="1" dirty="0"/>
              <a:t>transport card</a:t>
            </a:r>
            <a:r>
              <a:rPr lang="en-US" sz="1800" dirty="0"/>
              <a:t> that forces you to pay for:</a:t>
            </a:r>
          </a:p>
          <a:p>
            <a:r>
              <a:rPr lang="en-US" sz="1800" dirty="0"/>
              <a:t>Bus fare</a:t>
            </a:r>
          </a:p>
          <a:p>
            <a:r>
              <a:rPr lang="en-US" sz="1800" dirty="0"/>
              <a:t>Metro fare</a:t>
            </a:r>
          </a:p>
          <a:p>
            <a:r>
              <a:rPr lang="en-US" sz="1800" dirty="0"/>
              <a:t>Even if you only use the </a:t>
            </a:r>
            <a:r>
              <a:rPr lang="en-US" sz="1800" b="1" dirty="0"/>
              <a:t>bus</a:t>
            </a:r>
            <a:r>
              <a:rPr lang="en-US" sz="1800" dirty="0"/>
              <a:t>, you’re forced to pay for things you don’t use. ❌</a:t>
            </a:r>
          </a:p>
          <a:p>
            <a:r>
              <a:rPr lang="en-US" sz="1800" dirty="0"/>
              <a:t>👉 Instead, the system should give:</a:t>
            </a:r>
          </a:p>
          <a:p>
            <a:r>
              <a:rPr lang="en-US" sz="1800" b="1" dirty="0"/>
              <a:t>Bus Card</a:t>
            </a:r>
            <a:endParaRPr lang="en-US" sz="1800" dirty="0"/>
          </a:p>
          <a:p>
            <a:r>
              <a:rPr lang="en-US" sz="1800" b="1" dirty="0"/>
              <a:t>Metro Card</a:t>
            </a:r>
          </a:p>
          <a:p>
            <a:r>
              <a:rPr lang="en-US" sz="1800" b="1" dirty="0"/>
              <a:t>Benefits of ISP</a:t>
            </a:r>
          </a:p>
          <a:p>
            <a:r>
              <a:rPr lang="en-US" sz="1800" b="1" dirty="0"/>
              <a:t>Flexibility</a:t>
            </a:r>
            <a:r>
              <a:rPr lang="en-US" sz="1800" dirty="0"/>
              <a:t> – Each class implements only what it needs.</a:t>
            </a:r>
          </a:p>
          <a:p>
            <a:r>
              <a:rPr lang="en-US" sz="1800" b="1" dirty="0"/>
              <a:t>Clean Code</a:t>
            </a:r>
            <a:r>
              <a:rPr lang="en-US" sz="1800" dirty="0"/>
              <a:t> – No unnecessary methods or </a:t>
            </a:r>
            <a:r>
              <a:rPr lang="en-US" sz="1900" dirty="0" err="1"/>
              <a:t>NotImplementedException</a:t>
            </a:r>
            <a:r>
              <a:rPr lang="en-US" sz="1900" dirty="0"/>
              <a:t>.</a:t>
            </a:r>
          </a:p>
          <a:p>
            <a:r>
              <a:rPr lang="en-US" sz="1800" b="1" dirty="0"/>
              <a:t>Scalability</a:t>
            </a:r>
            <a:r>
              <a:rPr lang="en-US" sz="1800" dirty="0"/>
              <a:t> – Easy to add new types of workers later (e.g., </a:t>
            </a:r>
            <a:r>
              <a:rPr lang="en-US" sz="1800" dirty="0" err="1"/>
              <a:t>AIWorker</a:t>
            </a:r>
            <a:r>
              <a:rPr lang="en-US" sz="1800" dirty="0"/>
              <a:t> who only thinks).</a:t>
            </a:r>
          </a:p>
          <a:p>
            <a:endParaRPr lang="en-US" sz="1800" dirty="0"/>
          </a:p>
          <a:p>
            <a:endParaRPr lang="en-US" sz="1700" dirty="0"/>
          </a:p>
        </p:txBody>
      </p:sp>
    </p:spTree>
    <p:extLst>
      <p:ext uri="{BB962C8B-B14F-4D97-AF65-F5344CB8AC3E}">
        <p14:creationId xmlns:p14="http://schemas.microsoft.com/office/powerpoint/2010/main" val="3957299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 Dependency Inversion Principle (DIP)</a:t>
            </a:r>
          </a:p>
        </p:txBody>
      </p:sp>
      <p:sp>
        <p:nvSpPr>
          <p:cNvPr id="5" name="Content Placeholder 4"/>
          <p:cNvSpPr>
            <a:spLocks noGrp="1"/>
          </p:cNvSpPr>
          <p:nvPr>
            <p:ph sz="quarter" idx="1"/>
          </p:nvPr>
        </p:nvSpPr>
        <p:spPr/>
        <p:txBody>
          <a:bodyPr>
            <a:noAutofit/>
          </a:bodyPr>
          <a:lstStyle/>
          <a:p>
            <a:r>
              <a:rPr lang="en-US" sz="2000" dirty="0"/>
              <a:t>The Dependency Inversion Principle helps you design flexible and testable systems by making sure higher-level modules (the main logic in your app) and lower-level modules (utilities or helpers) both depend on abstractions (like interfaces), not on concrete classes directly.</a:t>
            </a:r>
          </a:p>
          <a:p>
            <a:r>
              <a:rPr lang="en-US" sz="2000" b="1" dirty="0"/>
              <a:t>What Does DIP Mean?</a:t>
            </a:r>
          </a:p>
          <a:p>
            <a:r>
              <a:rPr lang="en-US" sz="2000" dirty="0"/>
              <a:t>High-level modules: Your core business logic—what users care about.</a:t>
            </a:r>
          </a:p>
          <a:p>
            <a:r>
              <a:rPr lang="en-US" sz="2000" dirty="0"/>
              <a:t>Low-level modules: Details like how logging works, storage, sending emails, etc.</a:t>
            </a:r>
          </a:p>
          <a:p>
            <a:r>
              <a:rPr lang="en-US" sz="2000" dirty="0"/>
              <a:t>Abstraction: Often an interface or abstract class in C#, Java, etc.</a:t>
            </a:r>
          </a:p>
          <a:p>
            <a:r>
              <a:rPr lang="en-US" sz="2000" b="1" dirty="0"/>
              <a:t>Key points:</a:t>
            </a:r>
          </a:p>
          <a:p>
            <a:r>
              <a:rPr lang="en-US" sz="2000" dirty="0"/>
              <a:t>High-level and low-level modules should both depend on abstractions.</a:t>
            </a:r>
          </a:p>
          <a:p>
            <a:r>
              <a:rPr lang="en-US" sz="2000" dirty="0"/>
              <a:t>Abstractions shouldn't depend on details—details should depend on abstractions.</a:t>
            </a:r>
          </a:p>
        </p:txBody>
      </p:sp>
    </p:spTree>
    <p:extLst>
      <p:ext uri="{BB962C8B-B14F-4D97-AF65-F5344CB8AC3E}">
        <p14:creationId xmlns:p14="http://schemas.microsoft.com/office/powerpoint/2010/main" val="1788216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 Dependency Inversion Principle (DIP) Cont..</a:t>
            </a:r>
          </a:p>
        </p:txBody>
      </p:sp>
      <p:sp>
        <p:nvSpPr>
          <p:cNvPr id="5" name="Content Placeholder 4"/>
          <p:cNvSpPr>
            <a:spLocks noGrp="1"/>
          </p:cNvSpPr>
          <p:nvPr>
            <p:ph sz="quarter" idx="1"/>
          </p:nvPr>
        </p:nvSpPr>
        <p:spPr/>
        <p:txBody>
          <a:bodyPr>
            <a:normAutofit/>
          </a:bodyPr>
          <a:lstStyle/>
          <a:p>
            <a:r>
              <a:rPr lang="en-US" sz="1800" b="1" dirty="0"/>
              <a:t>Benefits of DIP</a:t>
            </a:r>
          </a:p>
          <a:p>
            <a:r>
              <a:rPr lang="en-US" sz="1800" b="1" dirty="0"/>
              <a:t>Loose Coupling</a:t>
            </a:r>
            <a:r>
              <a:rPr lang="en-US" sz="1800" dirty="0"/>
              <a:t> – High-level modules don’t depend on low-level details.</a:t>
            </a:r>
          </a:p>
          <a:p>
            <a:r>
              <a:rPr lang="en-US" sz="1800" b="1" dirty="0"/>
              <a:t>Flexibility</a:t>
            </a:r>
            <a:r>
              <a:rPr lang="en-US" sz="1800" dirty="0"/>
              <a:t> – Easy to swap out implementations (Email → SMS → WhatsApp) without changing </a:t>
            </a:r>
            <a:r>
              <a:rPr lang="en-US" sz="2000" dirty="0"/>
              <a:t>Notification</a:t>
            </a:r>
            <a:r>
              <a:rPr lang="en-US" sz="1800" dirty="0"/>
              <a:t>.</a:t>
            </a:r>
          </a:p>
          <a:p>
            <a:r>
              <a:rPr lang="en-US" sz="1800" b="1" dirty="0"/>
              <a:t>Testability</a:t>
            </a:r>
            <a:r>
              <a:rPr lang="en-US" sz="1800" dirty="0"/>
              <a:t> – We can easily create a </a:t>
            </a:r>
            <a:r>
              <a:rPr lang="en-US" sz="1800" b="1" dirty="0"/>
              <a:t>mock service</a:t>
            </a:r>
            <a:r>
              <a:rPr lang="en-US" sz="1800" dirty="0"/>
              <a:t> for unit testing.</a:t>
            </a:r>
          </a:p>
          <a:p>
            <a:r>
              <a:rPr lang="en-US" sz="1800" b="1" dirty="0"/>
              <a:t>Scalability</a:t>
            </a:r>
            <a:r>
              <a:rPr lang="en-US" sz="1800" dirty="0"/>
              <a:t> – Adding new message services is plug-and-play.</a:t>
            </a:r>
          </a:p>
          <a:p>
            <a:endParaRPr lang="en-US" sz="1700" dirty="0"/>
          </a:p>
        </p:txBody>
      </p:sp>
    </p:spTree>
    <p:extLst>
      <p:ext uri="{BB962C8B-B14F-4D97-AF65-F5344CB8AC3E}">
        <p14:creationId xmlns:p14="http://schemas.microsoft.com/office/powerpoint/2010/main" val="841204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3EDC0-97E5-ED03-0596-E5831FB725C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0D9F2B6-1DC7-A681-C400-CEF4A66D857E}"/>
              </a:ext>
            </a:extLst>
          </p:cNvPr>
          <p:cNvSpPr>
            <a:spLocks noGrp="1"/>
          </p:cNvSpPr>
          <p:nvPr>
            <p:ph type="title"/>
          </p:nvPr>
        </p:nvSpPr>
        <p:spPr/>
        <p:txBody>
          <a:bodyPr>
            <a:normAutofit fontScale="90000"/>
          </a:bodyPr>
          <a:lstStyle/>
          <a:p>
            <a:r>
              <a:rPr lang="en-US" dirty="0"/>
              <a:t> Dependency Inversion Principle (DIP) Cont..</a:t>
            </a:r>
          </a:p>
        </p:txBody>
      </p:sp>
      <p:sp>
        <p:nvSpPr>
          <p:cNvPr id="5" name="Content Placeholder 4">
            <a:extLst>
              <a:ext uri="{FF2B5EF4-FFF2-40B4-BE49-F238E27FC236}">
                <a16:creationId xmlns:a16="http://schemas.microsoft.com/office/drawing/2014/main" id="{D7F64648-8965-4731-0F16-7BBA59890081}"/>
              </a:ext>
            </a:extLst>
          </p:cNvPr>
          <p:cNvSpPr>
            <a:spLocks noGrp="1"/>
          </p:cNvSpPr>
          <p:nvPr>
            <p:ph sz="quarter" idx="1"/>
          </p:nvPr>
        </p:nvSpPr>
        <p:spPr/>
        <p:txBody>
          <a:bodyPr>
            <a:normAutofit/>
          </a:bodyPr>
          <a:lstStyle/>
          <a:p>
            <a:r>
              <a:rPr lang="en-US" sz="1800" b="1" dirty="0"/>
              <a:t>Real-World Analogy</a:t>
            </a:r>
          </a:p>
          <a:p>
            <a:r>
              <a:rPr lang="en-US" sz="1800" dirty="0"/>
              <a:t>Think of </a:t>
            </a:r>
            <a:r>
              <a:rPr lang="en-US" sz="1800" b="1" dirty="0"/>
              <a:t>DIP</a:t>
            </a:r>
            <a:r>
              <a:rPr lang="en-US" sz="1800" dirty="0"/>
              <a:t> like a </a:t>
            </a:r>
            <a:r>
              <a:rPr lang="en-US" sz="1800" b="1" dirty="0"/>
              <a:t>power socket and plug system</a:t>
            </a:r>
            <a:r>
              <a:rPr lang="en-US" sz="1800" dirty="0"/>
              <a:t>:</a:t>
            </a:r>
          </a:p>
          <a:p>
            <a:r>
              <a:rPr lang="en-US" sz="1800" dirty="0"/>
              <a:t>The </a:t>
            </a:r>
            <a:r>
              <a:rPr lang="en-US" sz="1800" b="1" dirty="0"/>
              <a:t>socket (abstraction)</a:t>
            </a:r>
            <a:r>
              <a:rPr lang="en-US" sz="1800" dirty="0"/>
              <a:t> doesn’t care if you plug in a fan, phone charger, or laptop.</a:t>
            </a:r>
          </a:p>
          <a:p>
            <a:r>
              <a:rPr lang="en-US" sz="1800" dirty="0"/>
              <a:t>The </a:t>
            </a:r>
            <a:r>
              <a:rPr lang="en-US" sz="1800" b="1" dirty="0"/>
              <a:t>devices (low-level modules)</a:t>
            </a:r>
            <a:r>
              <a:rPr lang="en-US" sz="1800" dirty="0"/>
              <a:t> adapt to the socket, not the other way around.</a:t>
            </a:r>
          </a:p>
          <a:p>
            <a:r>
              <a:rPr lang="en-US" sz="1800" dirty="0"/>
              <a:t>If tomorrow you buy a new device, you don’t need to </a:t>
            </a:r>
            <a:r>
              <a:rPr lang="en-US" sz="1800" b="1" dirty="0"/>
              <a:t>rebuild the wall socket</a:t>
            </a:r>
            <a:r>
              <a:rPr lang="en-US" sz="1800" dirty="0"/>
              <a:t> — you just make sure your device supports the standard plug.</a:t>
            </a:r>
          </a:p>
          <a:p>
            <a:r>
              <a:rPr lang="en-US" sz="1800" dirty="0"/>
              <a:t>👉 Same in code: the high-level class (</a:t>
            </a:r>
            <a:r>
              <a:rPr lang="en-US" dirty="0"/>
              <a:t>Notification</a:t>
            </a:r>
            <a:r>
              <a:rPr lang="en-US" sz="1800" dirty="0"/>
              <a:t>) should depend on a </a:t>
            </a:r>
            <a:r>
              <a:rPr lang="en-US" sz="1800" b="1" dirty="0"/>
              <a:t>plug/socket (interface)</a:t>
            </a:r>
            <a:r>
              <a:rPr lang="en-US" sz="1800" dirty="0"/>
              <a:t>, not on a specific device (Email, SMS).</a:t>
            </a:r>
          </a:p>
          <a:p>
            <a:endParaRPr lang="en-US" sz="1700" dirty="0"/>
          </a:p>
        </p:txBody>
      </p:sp>
    </p:spTree>
    <p:extLst>
      <p:ext uri="{BB962C8B-B14F-4D97-AF65-F5344CB8AC3E}">
        <p14:creationId xmlns:p14="http://schemas.microsoft.com/office/powerpoint/2010/main" val="340624431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Template>
  <TotalTime>2471</TotalTime>
  <Words>1129</Words>
  <Application>Microsoft Office PowerPoint</Application>
  <PresentationFormat>On-screen Show (4:3)</PresentationFormat>
  <Paragraphs>90</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Calibri</vt:lpstr>
      <vt:lpstr>Tw Cen MT</vt:lpstr>
      <vt:lpstr>Wingdings</vt:lpstr>
      <vt:lpstr>Wingdings 2</vt:lpstr>
      <vt:lpstr>Median</vt:lpstr>
      <vt:lpstr> SOLID Design Principles</vt:lpstr>
      <vt:lpstr> SOLID Design Principles</vt:lpstr>
      <vt:lpstr> Single Responsibility Principle (SRP)</vt:lpstr>
      <vt:lpstr> Open Closed Principle (OCP)</vt:lpstr>
      <vt:lpstr> Liskov Substitution Principle (LSP)</vt:lpstr>
      <vt:lpstr> Liskov Substitution Principle (LSP)</vt:lpstr>
      <vt:lpstr> Interface Segregation Principle (ISP)</vt:lpstr>
      <vt:lpstr> Interface Segregation Principle (ISP)</vt:lpstr>
      <vt:lpstr> Dependency Inversion Principle (DIP)</vt:lpstr>
      <vt:lpstr> Dependency Inversion Principle (DIP) Cont..</vt:lpstr>
      <vt:lpstr> Dependency Inversion Principle (DIP)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CONSTRUCTORS</dc:title>
  <dc:creator/>
  <cp:lastModifiedBy>Santhosh Kumar</cp:lastModifiedBy>
  <cp:revision>38</cp:revision>
  <dcterms:created xsi:type="dcterms:W3CDTF">2006-08-16T00:00:00Z</dcterms:created>
  <dcterms:modified xsi:type="dcterms:W3CDTF">2025-10-08T03:48:48Z</dcterms:modified>
</cp:coreProperties>
</file>